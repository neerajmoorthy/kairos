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lookup time (ms)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Linear scan</c:v>
                  </c:pt>
                  <c:pt idx="1">
                    <c:v>BST (unbalanced)</c:v>
                  </c:pt>
                  <c:pt idx="2">
                    <c:v>Trie</c:v>
                  </c:pt>
                  <c:pt idx="3">
                    <c:v>Hash table</c:v>
                  </c:pt>
                  <c:pt idx="4">
                    <c:v>AVL tree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38.53</c:v>
                </c:pt>
                <c:pt idx="1">
                  <c:v>21.31</c:v>
                </c:pt>
                <c:pt idx="2">
                  <c:v>0.51</c:v>
                </c:pt>
                <c:pt idx="3">
                  <c:v>0.26</c:v>
                </c:pt>
                <c:pt idx="4">
                  <c:v>0.21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b"/>
        <c:majorGridlines>
          <c:spPr>
            <a:ln w="12700" cap="flat">
              <a:solidFill>
                <a:srgbClr val="D9E0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4748B"/>
                    </a:solidFill>
                    <a:latin typeface="Arial"/>
                  </a:rPr>
                  <a:t>milliseconds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group number, member names and registration numbers before presenting. Opening line: KAIROS is Greek for 'the opportune moment' — which is what a deadline app is really about. Today's review covers the complete data layer plus the scheduling, adaptive-learning and benchmarking engines.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gap: existing planners answer 'what should I study'. None answer 'what do I already have on this machine that helps me finish this specific task'.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nobody has built a study planner — they have. The claim is about the combination: local-file retrieval plus algorithmic allocation plus measured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'is this novel?' — the honest answer is that the combination is novel, and item 5 is the strongest academic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left to right, top to bottom: input, analyse and index, the five core structures, the three engines, and the five outputs. The dashed orange line is the adaptive loop — a low mastery rating re-weights the plan and changes the next reminder.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to re-run this live. Switch 'Insertion order' to Sorted and the BST bar jumps by two orders of magnitude while the AVL bar does not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scope: the mid-review target was the data layer. We also completed the scheduling, adaptive and benchmarking engines, which were planned for final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960120"/>
            <a:ext cx="1417320" cy="384048"/>
          </a:xfrm>
          <a:prstGeom prst="roundRect">
            <a:avLst>
              <a:gd name="adj" fmla="val 47619"/>
            </a:avLst>
          </a:prstGeom>
          <a:solidFill>
            <a:srgbClr val="1E2A57"/>
          </a:solidFill>
          <a:ln w="12700">
            <a:solidFill>
              <a:srgbClr val="2E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960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1572768"/>
            <a:ext cx="1417320" cy="384048"/>
          </a:xfrm>
          <a:prstGeom prst="roundRect">
            <a:avLst>
              <a:gd name="adj" fmla="val 47619"/>
            </a:avLst>
          </a:prstGeom>
          <a:solidFill>
            <a:srgbClr val="1E2A57"/>
          </a:solidFill>
          <a:ln w="12700">
            <a:solidFill>
              <a:srgbClr val="2E3C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15727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915400" y="2212848"/>
            <a:ext cx="1417320" cy="384048"/>
          </a:xfrm>
          <a:prstGeom prst="roundRect">
            <a:avLst>
              <a:gd name="adj" fmla="val 47619"/>
            </a:avLst>
          </a:prstGeom>
          <a:solidFill>
            <a:srgbClr val="1E2A57"/>
          </a:solidFill>
          <a:ln w="12700">
            <a:solidFill>
              <a:srgbClr val="2E3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15400" y="22128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195560" y="2852928"/>
            <a:ext cx="1417320" cy="384048"/>
          </a:xfrm>
          <a:prstGeom prst="roundRect">
            <a:avLst>
              <a:gd name="adj" fmla="val 47619"/>
            </a:avLst>
          </a:prstGeom>
          <a:solidFill>
            <a:srgbClr val="1E2A57"/>
          </a:solidFill>
          <a:ln w="12700">
            <a:solidFill>
              <a:srgbClr val="2E3C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95560" y="28529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O(m + 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41080" y="3493008"/>
            <a:ext cx="1417320" cy="384048"/>
          </a:xfrm>
          <a:prstGeom prst="roundRect">
            <a:avLst>
              <a:gd name="adj" fmla="val 47619"/>
            </a:avLst>
          </a:prstGeom>
          <a:solidFill>
            <a:srgbClr val="1E2A57"/>
          </a:solidFill>
          <a:ln w="12700">
            <a:solidFill>
              <a:srgbClr val="2E3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41080" y="34930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O(2ⁿ)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829800" y="4133088"/>
            <a:ext cx="1417320" cy="384048"/>
          </a:xfrm>
          <a:prstGeom prst="roundRect">
            <a:avLst>
              <a:gd name="adj" fmla="val 47619"/>
            </a:avLst>
          </a:prstGeom>
          <a:solidFill>
            <a:srgbClr val="1E2A57"/>
          </a:solidFill>
          <a:ln w="12700">
            <a:solidFill>
              <a:srgbClr val="2E3C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9800" y="41330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O(n·W)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051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MID-PROJECT REVIEW  ·  ADVANCED DATA STRUCTURES &amp; ALGORITHMS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14173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KAIROS</a:t>
            </a:r>
            <a:endParaRPr lang="en-US" sz="8800" dirty="0"/>
          </a:p>
        </p:txBody>
      </p:sp>
      <p:sp>
        <p:nvSpPr>
          <p:cNvPr id="16" name="Text 14"/>
          <p:cNvSpPr/>
          <p:nvPr/>
        </p:nvSpPr>
        <p:spPr>
          <a:xfrm>
            <a:off x="548640" y="26700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6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Acquisition, Indexing, Ranking &amp; Optimized Scheduling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3127248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B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algorithm-driven academic productivity platform that turns a deadline into a ranked workspace and an optimised study plan — built on data structures implemented from scratch.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7406640" cy="1783080"/>
          </a:xfrm>
          <a:prstGeom prst="roundRect">
            <a:avLst>
              <a:gd name="adj" fmla="val 5128"/>
            </a:avLst>
          </a:prstGeom>
          <a:solidFill>
            <a:srgbClr val="1E2A57"/>
          </a:solidFill>
          <a:ln w="12700">
            <a:solidFill>
              <a:srgbClr val="2E3C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3159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 [ __ ]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46451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49377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Student Name ]  —  [ Registration No. 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5212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Student Name ]  —  [ Registration No. 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54864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Student Name ]  —  [ Registration No. 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431596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6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6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Faculty Name ]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6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Semester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6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Branch ] · Semester III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053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unit + integration tests passing  ·  9 algorithms implemented from scratch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Problem Statement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already owns the material they need. It is sitting in course folders on their own laptop. The problem is not scarcity — it is retrieval, prioritisation and time.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4728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D94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03120"/>
            <a:ext cx="274320" cy="274320"/>
          </a:xfrm>
          <a:prstGeom prst="ellipse">
            <a:avLst/>
          </a:prstGeom>
          <a:solidFill>
            <a:srgbClr val="D94A5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848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is invisible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487168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PDFs and lab manuals pile up across folders. Filename search fails the moment you forget what you called the file.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0248" y="1874520"/>
            <a:ext cx="344728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D94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103120"/>
            <a:ext cx="274320" cy="274320"/>
          </a:xfrm>
          <a:prstGeom prst="ellipse">
            <a:avLst/>
          </a:prstGeom>
          <a:solidFill>
            <a:srgbClr val="D94A5E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20848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feels urgent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487168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deadlines, no defensible order. Students sort by anxiety, not by a workload model.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91856" y="1874520"/>
            <a:ext cx="344728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875">
            <a:solidFill>
              <a:srgbClr val="D94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7888" y="2103120"/>
            <a:ext cx="274320" cy="274320"/>
          </a:xfrm>
          <a:prstGeom prst="ellipse">
            <a:avLst/>
          </a:prstGeom>
          <a:solidFill>
            <a:srgbClr val="D9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8631936" y="20848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ignore weakness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47888" y="2487168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timetable gives the topic you have already mastered the same hours as the one you keep failing.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5F8FC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840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" y="407822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student's tasks, their local study material and a limited number of study hours, retrieve the most relevant resources per task and allocate the available time so that urgency is maximised and weak concepts receive proportionally more attention.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4892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51755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+ hash index over the student's own files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37560" y="4892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37560" y="51755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urgency score feeding a max-heap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26480" y="4892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26480" y="51755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knapsack over available study hours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915400" y="4892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915400" y="51755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re-weighted by measured concept mastery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 · Mid-Project Review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6424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783080"/>
                <a:gridCol w="3063240"/>
                <a:gridCol w="3794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/ 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for our problem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Gligorea et al. (2023)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Educ. Sci. 13(12):1216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learning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review of AI/ML personalisation in e-learning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personalisation works; does not address retrieval from the learner's own files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Mustapa, Salahuddin &amp;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Hashim (2022), IJACSA 13(8)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plan 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logic + knapsack optimisation for course plans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Plans at course-enrolment granularity; no per-task resources or progress 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Zobel &amp; Moffat (2006)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 Comput. Surv. 38(2)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indexing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Inverted files for text search engines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Optimised for web-scale corpora; heavier than a desktop-scale keyword index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Adelson-Velsky &amp;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Landis (1962)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search trees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Height-balanced BST with rotations (AVL)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structure; must be integrated with a workload model to order deadlines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Cormen et al. (2022)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CLRS, 4th 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foundations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Heaps, heapsort, hashing, greedy, DP, branch &amp; bound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implementations; no application to academic workload 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planners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(Ahead, Caktus AI, Eduplanner)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productivity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LLM-generated schedules from syllabus and deadlines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Opaque generation, cloud-only, no algorithmic guarantees or complexity 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literatures exist side by side: adaptive-learning research that models the learner but assumes a curated content library, and classical DSA that solves indexing and allocation but is rarely applied to a student's real workload. KAIROS joins them.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 · Mid-Project Review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64240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&amp; Novelty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DF2EE"/>
          </a:solidFill>
          <a:ln w="15875">
            <a:solidFill>
              <a:srgbClr val="EB68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plan around the deadline. None connect the deadline to the knowledge repository the student already owns, and none expose measurable evidence for the algorithms they use.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9424"/>
            <a:ext cx="344728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2A78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487168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07008" y="24871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Algorithm-first architecture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29992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structures are the product, not an implementation detail. Every ordering, lookup and allocation the UI shows is produced by a structure written for this project.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70248" y="2249424"/>
            <a:ext cx="344728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2A78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487168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28616" y="24871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resource intelligence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26280" y="29992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“what on my machine helps me finish this task?” — indexing the student's own folders into a Trie and hash table. Nothing is uploaded; only filenames and tags are read.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91856" y="2249424"/>
            <a:ext cx="344728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EB68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7888" y="2487168"/>
            <a:ext cx="310896" cy="31089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9" name="Text 17"/>
          <p:cNvSpPr/>
          <p:nvPr/>
        </p:nvSpPr>
        <p:spPr>
          <a:xfrm>
            <a:off x="8247888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50224" y="24871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retrieval pipeline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47888" y="2999232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→ Trie prefix match → hash hydration → relevance scoring → heap Top-K → heapsort. A deterministic, inspectable ranking rather than an opaque generated answer.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133088"/>
            <a:ext cx="344728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EB68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370832"/>
            <a:ext cx="310896" cy="31089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07008" y="43708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time reallocation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04672" y="4882896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per concept re-weights the plan: weight = (100 − mastery) + 12. A concept at 30% pulls roughly twice the time of one at 90%.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70248" y="4133088"/>
            <a:ext cx="344728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1BAF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4370832"/>
            <a:ext cx="310896" cy="310896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28616" y="43708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Algorithm Laboratory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26280" y="4882896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asserting “hashing is faster”, the system measures it live across dataset sizes and shows the growth curves.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991856" y="4133088"/>
            <a:ext cx="344728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1BAF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47888" y="4370832"/>
            <a:ext cx="310896" cy="310896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34" name="Text 32"/>
          <p:cNvSpPr/>
          <p:nvPr/>
        </p:nvSpPr>
        <p:spPr>
          <a:xfrm>
            <a:off x="8247888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650224" y="43708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made visible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247888" y="4882896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tests assert the AVL invariant after every one of 500 random inserts and 300 deletes; exact schedulers are cross-validated against each other.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 · Mid-Project Review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64240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298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academic workload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1591056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task from deadline proximity, priority and estimated effort using a documented, auditable formula.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353312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11112" y="1298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by deadline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11112" y="1591056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tasks in a self-balancing AVL tree keyed by (deadline, id) with guaranteed O(log n) operations.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32888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24780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by urgency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" y="2770632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the most urgent task in O(1) and the full ordering in O(n log n) from a binary max-heap.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2532888"/>
            <a:ext cx="310896" cy="31089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11112" y="24780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local material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11112" y="2770632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selected folders and index filenames, extensions and tags into a Trie and a hash table with explicit collision handling.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12464"/>
            <a:ext cx="310896" cy="31089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and rank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" y="3950208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local and web candidates, score relevance, and return Top-K through heap selection and heapsort.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712464"/>
            <a:ext cx="310896" cy="31089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11112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study time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11112" y="3950208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hours-allocation problem four ways — Greedy, DP, Backtracking, Branch &amp; Bound — and compare them.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310896" cy="310896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552" y="48371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to the learner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87552" y="5129784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concept mastery, detect weak areas and reallocate study hours towards them automatically.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4892040"/>
            <a:ext cx="310896" cy="310896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11112" y="48371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experimentally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11112" y="5129784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every structure and algorithm across input sizes, reporting measured time and structural facts.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943600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94360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carried throughout: every structure is implemented from scratch — no dict, no heapq, no sorted() on any path that matters.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 · Mid-Project Review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64240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400" dirty="0"/>
          </a:p>
        </p:txBody>
      </p:sp>
      <p:pic>
        <p:nvPicPr>
          <p:cNvPr id="4" name="Image 0" descr="/tmp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33856"/>
            <a:ext cx="11393424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 · Mid-Project Review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64240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Core Data Structures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FastAPI backend · React + Tailwind + shadcn/ui frontend · REST over JSON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447288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5875">
            <a:solidFill>
              <a:srgbClr val="2A7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556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AVL Tree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61488" y="1773936"/>
            <a:ext cx="978408" cy="23774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61488" y="1773936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20756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avl_tree.py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2331720"/>
            <a:ext cx="2971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by (deadline, task id). Recursive insert/delete with explicit LL, RR, LR and RL case detection. In-order traversal gives the deadline view; per-node height and balance factor are exposed for inspection.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0248" y="1572768"/>
            <a:ext cx="3447288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5875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7556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Max-Heap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83096" y="1773936"/>
            <a:ext cx="978408" cy="23774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096" y="1773936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26280" y="20756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binary_heap.py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26280" y="2331720"/>
            <a:ext cx="2971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Array-backed: parent (i−1)/2, children 2i+1 and 2i+2. Hand-written sift-up/sift-down, Floyd O(n) build, non-destructive Top-K. Ties break by insertion order so the ordering is total.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91856" y="1572768"/>
            <a:ext cx="3447288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5875">
            <a:solidFill>
              <a:srgbClr val="2A78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17556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Table × 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204704" y="1773936"/>
            <a:ext cx="978408" cy="23774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04704" y="1773936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 avg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47888" y="20756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hash_table.py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47888" y="2331720"/>
            <a:ext cx="2971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chaining — each bucket is a singly linked list. Hand-written djb2 rolling hash; doubles and rehashes above load factor 0.75. Used for tasks, resources and concept mastery.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785616"/>
            <a:ext cx="3447288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5875">
            <a:solidFill>
              <a:srgbClr val="2A78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9684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61488" y="3986784"/>
            <a:ext cx="978408" cy="23774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1488" y="3986784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O(m + k)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trie.py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4672" y="4544568"/>
            <a:ext cx="2971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stored as a sorted association list with binary search, not a dict — so traversal emits lexicographic order for free. Exact search, prefix autocomplete, delete with dead-node pruning.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70248" y="3785616"/>
            <a:ext cx="3447288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5875">
            <a:solidFill>
              <a:srgbClr val="2A78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39684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Heapsort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83096" y="3986784"/>
            <a:ext cx="978408" cy="23774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83096" y="3986784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26280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heapsort.py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26280" y="4544568"/>
            <a:ext cx="2971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Build-max-heap then n−1 swap-and-sift passes, in place. Descending order comes from negating the key rather than reversing, so equal-scoring items keep their original order.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991856" y="3785616"/>
            <a:ext cx="3447288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5875">
            <a:solidFill>
              <a:srgbClr val="EB68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47888" y="39684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Analyzer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204704" y="3986784"/>
            <a:ext cx="978408" cy="237744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04704" y="3986784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47888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B68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task_analyzer.py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247888" y="456285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urgency = 10 × priority_weight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+ 100 / (1 + days_left)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+ 2 × estimated_hours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+ 40 if overdue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47888" y="537667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today scores 100 on the deadline term; in a week, 12.5.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8640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 · Mid-Project Review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64240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Algorithmic Engines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Engine — one problem, four strategies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49961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as a 0/1 knapsack: value = urgency, weight = estimated hours, capacity = the hours you actually have. All four solve the identical instance, so the comparison is fair.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048256"/>
            <a:ext cx="6766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EB68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214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88920" y="2139696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213969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13632" y="21305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2414016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by urgency-per-hour with our heapsort and takes what fits.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6766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EB68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07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88920" y="292608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9260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O(n·W)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13632" y="29169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320040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knapsack tabulation at 0.5 h granularity, then back-walks the table.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621024"/>
            <a:ext cx="6766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EB68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6941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88920" y="3712464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371246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O(2ⁿ)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13632" y="37033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7240" y="3986784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include/exclude DFS, pruning branches that overflow capacity.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07408"/>
            <a:ext cx="6766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EB68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4805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Bound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88920" y="4498848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88920" y="449884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O(2ⁿ) worst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13632" y="44897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" y="4773168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Best-first over a max-heap of fractional-knapsack bounds; prunes what cannot win.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26694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set is chosen, the timeline lays it out earliest-deadline-first — the classic greedy ordering for minimising lateness — splitting long tasks across days.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26680" y="12070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Learning Engine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726680" y="1572768"/>
            <a:ext cx="38862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875">
            <a:solidFill>
              <a:srgbClr val="1BAF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17190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chain per topic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5528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avl tree  →  BST · Balance Factor · Rotations · Insertion · Deletion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955280" y="24505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reallocation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55280" y="26974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= (100 − mastery) + 12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955280" y="294436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over available hours and ordered weakest-first by heapsort. Concepts below 60% are flagged as weak areas.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726680" y="3584448"/>
            <a:ext cx="38862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5875">
            <a:solidFill>
              <a:srgbClr val="1BAF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37124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955280" y="396849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unassessed concept is not a weak one. Unrated concepts count as 50% for allocation but never displace a concept you actually tested badly on — a bug our own tests caught.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26680" y="49377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Reminder Engine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726680" y="5230368"/>
            <a:ext cx="3886200" cy="786384"/>
          </a:xfrm>
          <a:prstGeom prst="roundRect">
            <a:avLst>
              <a:gd name="adj" fmla="val 9302"/>
            </a:avLst>
          </a:prstGeom>
          <a:solidFill>
            <a:srgbClr val="F5F8FC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27848" y="5340096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“ADSA Lab is due tomorrow. About 1.5 h of work remain. Start with your weak area: Rotations.”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 · Mid-Project Review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64240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 — Working Application</a:t>
            </a:r>
            <a:endParaRPr lang="en-US" sz="3400" dirty="0"/>
          </a:p>
        </p:txBody>
      </p:sp>
      <p:pic>
        <p:nvPicPr>
          <p:cNvPr id="4" name="Image 0" descr="/tmp/ss_today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5296"/>
            <a:ext cx="5532120" cy="297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15968"/>
            <a:ext cx="5532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heap peek names the single task to work on next, with the urgency breakdown and reminders built from deadline, remaining workload and weak area.</a:t>
            </a:r>
            <a:endParaRPr lang="en-US" sz="1050" dirty="0"/>
          </a:p>
        </p:txBody>
      </p:sp>
      <p:pic>
        <p:nvPicPr>
          <p:cNvPr id="6" name="Image 1" descr="/tmp/ss_plan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225296"/>
            <a:ext cx="5532120" cy="2971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46520" y="4315968"/>
            <a:ext cx="5532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 — Branch &amp; Bound selects which tasks fit into 20 hours; the timeline lays them out earliest-deadline-first and injects revision blocks for weak concepts.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48640" y="5230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548640" y="5724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shipped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337560" y="5230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3337560" y="5724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126480" y="5230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6126480" y="5724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from scratch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915400" y="5230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8915400" y="5724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implemented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48640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 · Mid-Project Review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064240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 — Algorithm Lab (measured, not asserted)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benchmark · 10,000 keys inserted in SORTED order · 200 lookups · measured on the development machine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36192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536192"/>
            <a:ext cx="4754880" cy="1517904"/>
          </a:xfrm>
          <a:prstGeom prst="roundRect">
            <a:avLst>
              <a:gd name="adj" fmla="val 4819"/>
            </a:avLst>
          </a:prstGeom>
          <a:solidFill>
            <a:srgbClr val="FDF2EE"/>
          </a:solidFill>
          <a:ln w="15875">
            <a:solidFill>
              <a:srgbClr val="EB683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86600" y="1645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100×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549640" y="17556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tree over an unbalanced BST on sorted input.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086600" y="230428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keys collapse the plain BST to height 10,000 — a linked list. The AVL tree holds at height 14 through rotations. This is the entire justification for AVL, measured rather than asserted.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0" y="32186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Sorting, n = 20,000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0" y="34381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Quicksort 19.8 ms  ·  Merge 35.1 ms  ·  Heapsort 89.4 ms  ·  Insertion 4,496 ms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0" y="3785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n = 18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0" y="40050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Bound explores 153 states; Backtracking explores 157,905 for the same optimum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0" y="4352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behaviour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0" y="45720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4,349 collisions across 16,384 buckets, longest chain 6, load factor 0.61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8FC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502920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exposes dataset size, insertion order and algorithm selection, then runs the real implementations on the spot — so every number on this slide can be reproduced live during the viva.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 · Mid-Project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 — Correctness &amp; Structure Inspection</a:t>
            </a:r>
            <a:endParaRPr lang="en-US" sz="3400" dirty="0"/>
          </a:p>
        </p:txBody>
      </p:sp>
      <p:pic>
        <p:nvPicPr>
          <p:cNvPr id="4" name="Image 0" descr="/tmp/ss_eng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5296"/>
            <a:ext cx="6035040" cy="3767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6577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view — the live AVL tree with every node's height and balance factor, the raw heap array in level order, and per-bucket hash occupancy.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949440" y="12252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 you know it's correct?”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949440" y="1609344"/>
            <a:ext cx="4663440" cy="713232"/>
          </a:xfrm>
          <a:prstGeom prst="roundRect">
            <a:avLst>
              <a:gd name="adj" fmla="val 10256"/>
            </a:avLst>
          </a:prstGeom>
          <a:solidFill>
            <a:srgbClr val="EEFAF5"/>
          </a:solidFill>
          <a:ln w="15875">
            <a:solidFill>
              <a:srgbClr val="1BAF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78040" y="168249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32104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across 9 modules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-q  →  160 passed in 2.9 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49440" y="2560320"/>
            <a:ext cx="201168" cy="20116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1" name="Text 8"/>
          <p:cNvSpPr/>
          <p:nvPr/>
        </p:nvSpPr>
        <p:spPr>
          <a:xfrm>
            <a:off x="7296912" y="25237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invariant under stress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296912" y="2779776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factors re-checked after every one of 500 random inserts and every one of 300 random deletes; height bound h ≤ 1.44·log₂(n+2) asserted.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49440" y="3493008"/>
            <a:ext cx="201168" cy="20116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4" name="Text 11"/>
          <p:cNvSpPr/>
          <p:nvPr/>
        </p:nvSpPr>
        <p:spPr>
          <a:xfrm>
            <a:off x="7296912" y="34564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property per operation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296912" y="3712464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after every insert and every extract-max, not just at the end.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949440" y="4425696"/>
            <a:ext cx="201168" cy="20116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7" name="Text 14"/>
          <p:cNvSpPr/>
          <p:nvPr/>
        </p:nvSpPr>
        <p:spPr>
          <a:xfrm>
            <a:off x="7296912" y="43891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Schedulers cross-validated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296912" y="4645152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DP, Backtracking and Branch &amp; Bound must agree on the optimum across randomised trials; a constructed case proves Greedy can lose.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49440" y="5358384"/>
            <a:ext cx="201168" cy="20116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20" name="Text 17"/>
          <p:cNvSpPr/>
          <p:nvPr/>
        </p:nvSpPr>
        <p:spPr>
          <a:xfrm>
            <a:off x="7296912" y="53218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Oracles, not shortcuts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296912" y="557784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and sorted() appear only as test oracles — never in the implementations they check.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8640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 · Mid-Project Review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64240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Progress Timeline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46120" y="137160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288536" y="137160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0952" y="137160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73368" y="137160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15784" y="137160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58200" y="137160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500616" y="137160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543032" y="137160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645920"/>
            <a:ext cx="1106424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1645920"/>
            <a:ext cx="0" cy="3794760"/>
          </a:xfrm>
          <a:prstGeom prst="line">
            <a:avLst/>
          </a:prstGeom>
          <a:noFill/>
          <a:ln w="19050">
            <a:solidFill>
              <a:srgbClr val="D94A5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99832" y="109728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REVIEW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172821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architecture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755648"/>
            <a:ext cx="987552" cy="173736"/>
          </a:xfrm>
          <a:prstGeom prst="roundRect">
            <a:avLst>
              <a:gd name="adj" fmla="val 47368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99796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tree + Binary heap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67328" y="2025396"/>
            <a:ext cx="1508760" cy="173736"/>
          </a:xfrm>
          <a:prstGeom prst="roundRect">
            <a:avLst>
              <a:gd name="adj" fmla="val 47368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2677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+ Hash table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88536" y="2295144"/>
            <a:ext cx="1508760" cy="173736"/>
          </a:xfrm>
          <a:prstGeom prst="roundRect">
            <a:avLst>
              <a:gd name="adj" fmla="val 47368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5374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Analyzer &amp; REST 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30952" y="2564892"/>
            <a:ext cx="987552" cy="173736"/>
          </a:xfrm>
          <a:prstGeom prst="roundRect">
            <a:avLst>
              <a:gd name="adj" fmla="val 47368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80720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indexing + web fetch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2834640"/>
            <a:ext cx="1508760" cy="173736"/>
          </a:xfrm>
          <a:prstGeom prst="roundRect">
            <a:avLst>
              <a:gd name="adj" fmla="val 47368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07695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pipeline &amp; workspace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73368" y="3104388"/>
            <a:ext cx="1508760" cy="173736"/>
          </a:xfrm>
          <a:prstGeom prst="roundRect">
            <a:avLst>
              <a:gd name="adj" fmla="val 47368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3467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engine (4 algorithms)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94576" y="3374136"/>
            <a:ext cx="1508760" cy="173736"/>
          </a:xfrm>
          <a:prstGeom prst="roundRect">
            <a:avLst>
              <a:gd name="adj" fmla="val 47368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61645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&amp; reminders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15784" y="3643884"/>
            <a:ext cx="987552" cy="173736"/>
          </a:xfrm>
          <a:prstGeom prst="roundRect">
            <a:avLst>
              <a:gd name="adj" fmla="val 47368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886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Lab &amp; benchmarks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24267" y="3913632"/>
            <a:ext cx="779069" cy="173736"/>
          </a:xfrm>
          <a:prstGeom prst="roundRect">
            <a:avLst>
              <a:gd name="adj" fmla="val 47368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15594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(7 screens) &amp; tests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07301" y="4183380"/>
            <a:ext cx="1196035" cy="173736"/>
          </a:xfrm>
          <a:prstGeom prst="roundRect">
            <a:avLst>
              <a:gd name="adj" fmla="val 47368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42569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 (SQLite)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458200" y="4453128"/>
            <a:ext cx="987552" cy="173736"/>
          </a:xfrm>
          <a:prstGeom prst="roundRect">
            <a:avLst>
              <a:gd name="adj" fmla="val 47368"/>
            </a:avLst>
          </a:prstGeom>
          <a:solidFill>
            <a:srgbClr val="F5F8FC"/>
          </a:solidFill>
          <a:ln w="15875">
            <a:solidFill>
              <a:srgbClr val="EDA1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69544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Quiz-based mastery assessment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979408" y="4722876"/>
            <a:ext cx="1196035" cy="173736"/>
          </a:xfrm>
          <a:prstGeom prst="roundRect">
            <a:avLst>
              <a:gd name="adj" fmla="val 47368"/>
            </a:avLst>
          </a:prstGeom>
          <a:solidFill>
            <a:srgbClr val="F5F8FC"/>
          </a:solidFill>
          <a:ln w="15875">
            <a:solidFill>
              <a:srgbClr val="EDA1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96519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profiling &amp; report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500616" y="4992624"/>
            <a:ext cx="1196035" cy="173736"/>
          </a:xfrm>
          <a:prstGeom prst="roundRect">
            <a:avLst>
              <a:gd name="adj" fmla="val 47368"/>
            </a:avLst>
          </a:prstGeom>
          <a:solidFill>
            <a:srgbClr val="F5F8FC"/>
          </a:solidFill>
          <a:ln w="15875">
            <a:solidFill>
              <a:srgbClr val="EDA1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2349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final demo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334549" y="5262372"/>
            <a:ext cx="1196035" cy="173736"/>
          </a:xfrm>
          <a:prstGeom prst="roundRect">
            <a:avLst>
              <a:gd name="adj" fmla="val 47368"/>
            </a:avLst>
          </a:prstGeom>
          <a:solidFill>
            <a:srgbClr val="F5F8FC"/>
          </a:solidFill>
          <a:ln w="15875">
            <a:solidFill>
              <a:srgbClr val="EDA1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5779008"/>
            <a:ext cx="365760" cy="173736"/>
          </a:xfrm>
          <a:prstGeom prst="roundRect">
            <a:avLst>
              <a:gd name="adj" fmla="val 47368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5840" y="57424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103120" y="5779008"/>
            <a:ext cx="365760" cy="173736"/>
          </a:xfrm>
          <a:prstGeom prst="roundRect">
            <a:avLst>
              <a:gd name="adj" fmla="val 47368"/>
            </a:avLst>
          </a:prstGeom>
          <a:solidFill>
            <a:srgbClr val="F5F8FC"/>
          </a:solidFill>
          <a:ln w="15875">
            <a:solidFill>
              <a:srgbClr val="EDA1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0320" y="57424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297680" y="5614416"/>
            <a:ext cx="7315200" cy="530352"/>
          </a:xfrm>
          <a:prstGeom prst="roundRect">
            <a:avLst>
              <a:gd name="adj" fmla="val 13793"/>
            </a:avLst>
          </a:prstGeom>
          <a:solidFill>
            <a:srgbClr val="EEFAF5"/>
          </a:solidFill>
          <a:ln w="15875">
            <a:solidFill>
              <a:srgbClr val="1BAF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26280" y="561441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70% complete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263640" y="561441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mid-review deliverables are done and running. Remaining work is persistence, a real quiz engine to replace self-reported mastery, memory profiling and the final report.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48640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 · Mid-Project Review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064240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32588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Adelson-Velsky, G. M., &amp; Landis, E. M. (1962). An algorithm for the organization of information. Proceedings of the USSR Academy of Sciences, 146, 263–266.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172200" y="13258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0" y="132588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Cormen, T. H., Leiserson, C. E., Rivest, R. L., &amp; Stein, C. (2022). Introduction to Algorithms (4th ed.). MIT Press.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29514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295144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Knuth, D. E. (1998). The Art of Computer Programming, Volume 3: Sorting and Searching (2nd ed.). Addison-Wesley.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72200" y="229514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295144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Zobel, J., &amp; Moffat, A. (2006). Inverted files for text search engines. ACM Computing Surveys, 38(2), 6–es.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2644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264408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Gligorea, I., Cioca, M., Oancea, R., Gorski, A.-T., Gorski, H., &amp; Tudorache, P. (2023). Adaptive learning using artificial intelligence in e-learning: A literature review. Education Sciences, 13(12), 1216.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72200" y="32644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3264408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Mustapa, M. A., Salahuddin, L., &amp; Hashim, U. R. (2022). Automated study plan generator using rule-based and knapsack problem. International Journal of Advanced Computer Science and Applications, 13(8).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2336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4233672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Martello, S., &amp; Toth, P. (1990). Knapsack Problems: Algorithms and Computer Implementations. John Wiley &amp; Sons.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72200" y="42336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4233672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Fredkin, E. (1960). Trie memory. Communications of the ACM, 3(9), 490–499.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20293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5202936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Williams, J. W. J. (1964). Algorithm 232: Heapsort. Communications of the ACM, 7(6), 347–348.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520293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5202936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MediaWiki contributors. (2026). API:Opensearch — MediaWiki Action API documentation. https://www.mediawiki.org/wiki/API:Opensearch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943600"/>
            <a:ext cx="11064240" cy="329184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94360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benchmark figure in this deck was produced by the Algorithm Lab on the development machine and can be reproduced live.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KAIROS · Mid-Project 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455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KAIROS — Mid-Project Review</dc:title>
  <dc:subject>PptxGenJS Presentation</dc:subject>
  <dc:creator>KAIROS project team</dc:creator>
  <cp:lastModifiedBy>KAIROS project team</cp:lastModifiedBy>
  <cp:revision>1</cp:revision>
  <dcterms:created xsi:type="dcterms:W3CDTF">2026-08-19T16:10:33Z</dcterms:created>
  <dcterms:modified xsi:type="dcterms:W3CDTF">2026-08-19T16:10:33Z</dcterms:modified>
</cp:coreProperties>
</file>