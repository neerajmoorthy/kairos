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4835eb7-7b8e-bd3f-9aec-37832709ff91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f1944c66-fe8b-b355-1f2f-f267361bb2e2}">
          <p14:sldIdLst>
            <p14:sldId id="261"/>
            <p14:sldId id="262"/>
            <p14:sldId id="263"/>
          </p14:sldIdLst>
        </p14:section>
        <p14:section name="Outputs" id="{bf04825d-49a0-489f-753a-bc387239dc44}">
          <p14:sldIdLst>
            <p14:sldId id="264"/>
            <p14:sldId id="265"/>
            <p14:sldId id="266"/>
            <p14:sldId id="267"/>
            <p14:sldId id="268"/>
          </p14:sldIdLst>
        </p14:section>
        <p14:section name="Evidence" id="{a79dcb75-2a85-a63f-53be-dce4700409cc}">
          <p14:sldIdLst>
            <p14:sldId id="269"/>
            <p14:sldId id="270"/>
          </p14:sldIdLst>
        </p14:section>
        <p14:section name="Wrap-up" id="{deb61b33-9ea9-4387-c98d-039b9669ceea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4F3F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4F3F8"/>
                </a:solidFill>
                <a:latin typeface="+mn-lt"/>
              </a:rPr>
              <a:t>Backend tests by area (197)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0D2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3F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Internal ordering, lookup, keywords</c:v>
                  </c:pt>
                  <c:pt idx="1">
                    <c:v>Product API and full workflow</c:v>
                  </c:pt>
                  <c:pt idx="2">
                    <c:v>Folder library, saving, restore</c:v>
                  </c:pt>
                  <c:pt idx="3">
                    <c:v>Planning and task analysis</c:v>
                  </c:pt>
                  <c:pt idx="4">
                    <c:v>Self-rated confidence (backend)</c:v>
                  </c:pt>
                  <c:pt idx="5">
                    <c:v>Search content and ranking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47</c:v>
                </c:pt>
                <c:pt idx="2">
                  <c:v>32</c:v>
                </c:pt>
                <c:pt idx="3">
                  <c:v>25</c:v>
                </c:pt>
                <c:pt idx="4">
                  <c:v>18</c:v>
                </c:pt>
                <c:pt idx="5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3F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3F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KAIROS helps a student see which work is at risk given the hours they have, find their own files for each task, and keep the plan current as they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everyday problems. The target user is one student managing coursework on their own computer. Group work and instructor tools are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measured: Motion's scheduling is stronger because it reads real calendars; MyStudyLife covers more of student life. Do not claim nobody else does planning or reminders.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points replace the mid-review's internal-mechanics angle with what the student gets. If asked about novelty, repeat the last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maps to a screen in the demo. Objective 8 is backed by the testing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the interface only talks to the local backend. The backend reads chosen folders but never writes to them, saves a snapshot after every change, and contacts Wikipedia only if web suggestions are switched on. Code: task_analyzer.py and insights.py, resource_service.py, scheduler.py, focus.py, persistence.py, store.py.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order. Steps 4 to 7 loop: record a session, everything recalculates, the next recommendation starts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'why did it say that?'. Risk is recalculated on every request; urgency is recalculated when a task changes, which is a known limitation (slide 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 from the recorded run. Point at the reasons line under the recommendation: every recommendation explains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 are referenced in place, never copied. Deleting a file on disk and pressing Rescan removes it from the library; the demo shows this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limitation before the panel does: risk is rated per task, so the plan can defer tasks that each look Low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is self-reported or time-estimated. There is no assessment of understanding yet; that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stop the backend with Ctrl+C, start it again, reload. Same tasks, progress and folders. Describe storage accurately: a snapshot file is not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only what was run. Commands: python -m pytest -q in backend; npx tsc in frontend; node e2e/demo-flow.mjs against an empty workspace; python scripts/profile_kairos.py.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means covered by automated tests and, for most rows, the scripted browser walk-through. Partial items are stated plainly; do not demo them as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two weaknesses before the panel finds them. Other limits: one daily-hours figure, no notifications, keyword search rather than meaning, first five PDF pages only, no sign-in so the backend must stay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here came from the recorded run. Do not claim time saved or grades improved; none of that has been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strengths and the honest gaps.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sources actually opened are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ROS 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ROS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ROS 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todoist.com/help/articles/205873321" TargetMode="External"/><Relationship Id="rId2" Type="http://schemas.openxmlformats.org/officeDocument/2006/relationships/hyperlink" Target="https://mystudylife.com/" TargetMode="External"/><Relationship Id="rId3" Type="http://schemas.openxmlformats.org/officeDocument/2006/relationships/hyperlink" Target="https://www.usemotion.com/help/time-management/auto-scheduling/reference-auto-scheduling/what-auto-scheduling-considers" TargetMode="External"/><Relationship Id="rId4" Type="http://schemas.openxmlformats.org/officeDocument/2006/relationships/hyperlink" Target="https://obsidian.md/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Review</a:t>
            </a:r>
            <a:endParaRPr lang="en-US" sz="13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1325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KAIROS</a:t>
            </a:r>
            <a:endParaRPr lang="en-US" sz="6000" dirty="0"/>
          </a:p>
        </p:txBody>
      </p:sp>
      <p:sp>
        <p:nvSpPr>
          <p:cNvPr id="4" name="title-rule"/>
          <p:cNvSpPr/>
          <p:nvPr/>
        </p:nvSpPr>
        <p:spPr>
          <a:xfrm>
            <a:off x="594360" y="2331720"/>
            <a:ext cx="12801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-3"/>
          <p:cNvSpPr txBox="1"/>
          <p:nvPr/>
        </p:nvSpPr>
        <p:spPr>
          <a:xfrm>
            <a:off x="54864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Acquisition, Indexing, Ranking &amp; Optimized Scheduling</a:t>
            </a:r>
            <a:endParaRPr lang="en-US" sz="1800" dirty="0"/>
          </a:p>
        </p:txBody>
      </p:sp>
      <p:sp>
        <p:nvSpPr>
          <p:cNvPr id="6" name="text-4"/>
          <p:cNvSpPr txBox="1"/>
          <p:nvPr/>
        </p:nvSpPr>
        <p:spPr>
          <a:xfrm>
            <a:off x="548640" y="2971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around deadlines with the hours you have and the files you already own</a:t>
            </a:r>
            <a:endParaRPr lang="en-US" sz="1400" dirty="0"/>
          </a:p>
        </p:txBody>
      </p:sp>
      <p:sp>
        <p:nvSpPr>
          <p:cNvPr id="7" name="card-5"/>
          <p:cNvSpPr/>
          <p:nvPr/>
        </p:nvSpPr>
        <p:spPr>
          <a:xfrm>
            <a:off x="548640" y="3703320"/>
            <a:ext cx="110642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/>
        </p:spPr>
      </p:sp>
      <p:sp>
        <p:nvSpPr>
          <p:cNvPr id="8" name="text-6"/>
          <p:cNvSpPr txBox="1"/>
          <p:nvPr/>
        </p:nvSpPr>
        <p:spPr>
          <a:xfrm>
            <a:off x="86868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 ·  Group No. 16</a:t>
            </a:r>
            <a:endParaRPr lang="en-US" sz="1200" dirty="0"/>
          </a:p>
        </p:txBody>
      </p:sp>
      <p:sp>
        <p:nvSpPr>
          <p:cNvPr id="9" name="text-7"/>
          <p:cNvSpPr txBox="1"/>
          <p:nvPr/>
        </p:nvSpPr>
        <p:spPr>
          <a:xfrm>
            <a:off x="868680" y="43891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Surya Charan — CB.AI.U4AID25009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Moorthy Neeraj — CB.AI.U4AID25031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Srikar — CB.AI.U4AID25006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Sathwik — CB.AI.U4AID25041</a:t>
            </a:r>
            <a:endParaRPr lang="en-US" sz="1400" dirty="0"/>
          </a:p>
        </p:txBody>
      </p:sp>
      <p:sp>
        <p:nvSpPr>
          <p:cNvPr id="10" name="text-8"/>
          <p:cNvSpPr txBox="1"/>
          <p:nvPr/>
        </p:nvSpPr>
        <p:spPr>
          <a:xfrm>
            <a:off x="649224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 ·  GUIDE</a:t>
            </a:r>
            <a:endParaRPr lang="en-US" sz="1200" dirty="0"/>
          </a:p>
        </p:txBody>
      </p:sp>
      <p:sp>
        <p:nvSpPr>
          <p:cNvPr id="11" name="text-9"/>
          <p:cNvSpPr txBox="1"/>
          <p:nvPr/>
        </p:nvSpPr>
        <p:spPr>
          <a:xfrm>
            <a:off x="6492240" y="4389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23AID204 — Advanced Data Structures &amp; Algorithm Analysis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Dr Ardra P 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MOTIVATION &amp; PROBLEM STATEMENT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material exists; the plan does not keep up</a:t>
            </a:r>
            <a:endParaRPr lang="en-US" sz="2600" dirty="0"/>
          </a:p>
        </p:txBody>
      </p:sp>
      <p:sp>
        <p:nvSpPr>
          <p:cNvPr id="4" name="card-10"/>
          <p:cNvSpPr/>
          <p:nvPr/>
        </p:nvSpPr>
        <p:spPr>
          <a:xfrm>
            <a:off x="548640" y="1600200"/>
            <a:ext cx="352958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5" name="num-11"/>
          <p:cNvSpPr/>
          <p:nvPr/>
        </p:nvSpPr>
        <p:spPr>
          <a:xfrm>
            <a:off x="822960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numtext-12"/>
          <p:cNvSpPr txBox="1"/>
          <p:nvPr/>
        </p:nvSpPr>
        <p:spPr>
          <a:xfrm>
            <a:off x="82296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-13"/>
          <p:cNvSpPr txBox="1"/>
          <p:nvPr/>
        </p:nvSpPr>
        <p:spPr>
          <a:xfrm>
            <a:off x="8229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deadlines</a:t>
            </a:r>
            <a:endParaRPr lang="en-US" sz="1600" dirty="0"/>
          </a:p>
        </p:txBody>
      </p:sp>
      <p:sp>
        <p:nvSpPr>
          <p:cNvPr id="8" name="text-14"/>
          <p:cNvSpPr txBox="1"/>
          <p:nvPr/>
        </p:nvSpPr>
        <p:spPr>
          <a:xfrm>
            <a:off x="822960" y="2788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submissions overlap. A list sorted by due date hides that a large task due Friday must start before a small one due Wednesday.</a:t>
            </a:r>
            <a:endParaRPr lang="en-US" sz="1400" dirty="0"/>
          </a:p>
        </p:txBody>
      </p:sp>
      <p:sp>
        <p:nvSpPr>
          <p:cNvPr id="9" name="card-15"/>
          <p:cNvSpPr/>
          <p:nvPr/>
        </p:nvSpPr>
        <p:spPr>
          <a:xfrm>
            <a:off x="4329684" y="1600200"/>
            <a:ext cx="352958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0" name="num-16"/>
          <p:cNvSpPr/>
          <p:nvPr/>
        </p:nvSpPr>
        <p:spPr>
          <a:xfrm>
            <a:off x="4604004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text-17"/>
          <p:cNvSpPr txBox="1"/>
          <p:nvPr/>
        </p:nvSpPr>
        <p:spPr>
          <a:xfrm>
            <a:off x="46040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-18"/>
          <p:cNvSpPr txBox="1"/>
          <p:nvPr/>
        </p:nvSpPr>
        <p:spPr>
          <a:xfrm>
            <a:off x="4604004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material</a:t>
            </a:r>
            <a:endParaRPr lang="en-US" sz="1600" dirty="0"/>
          </a:p>
        </p:txBody>
      </p:sp>
      <p:sp>
        <p:nvSpPr>
          <p:cNvPr id="13" name="text-19"/>
          <p:cNvSpPr txBox="1"/>
          <p:nvPr/>
        </p:nvSpPr>
        <p:spPr>
          <a:xfrm>
            <a:off x="4604004" y="2788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slides, PDFs and lab files sit in many folders. Finding the right one depends on remembering what it was called.</a:t>
            </a:r>
            <a:endParaRPr lang="en-US" sz="1400" dirty="0"/>
          </a:p>
        </p:txBody>
      </p:sp>
      <p:sp>
        <p:nvSpPr>
          <p:cNvPr id="14" name="card-20"/>
          <p:cNvSpPr/>
          <p:nvPr/>
        </p:nvSpPr>
        <p:spPr>
          <a:xfrm>
            <a:off x="8110728" y="1600200"/>
            <a:ext cx="352958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5" name="num-21"/>
          <p:cNvSpPr/>
          <p:nvPr/>
        </p:nvSpPr>
        <p:spPr>
          <a:xfrm>
            <a:off x="8385048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numtext-22"/>
          <p:cNvSpPr txBox="1"/>
          <p:nvPr/>
        </p:nvSpPr>
        <p:spPr>
          <a:xfrm>
            <a:off x="838504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-23"/>
          <p:cNvSpPr txBox="1"/>
          <p:nvPr/>
        </p:nvSpPr>
        <p:spPr>
          <a:xfrm>
            <a:off x="8385048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that go stale</a:t>
            </a:r>
            <a:endParaRPr lang="en-US" sz="1600" dirty="0"/>
          </a:p>
        </p:txBody>
      </p:sp>
      <p:sp>
        <p:nvSpPr>
          <p:cNvPr id="18" name="text-24"/>
          <p:cNvSpPr txBox="1"/>
          <p:nvPr/>
        </p:nvSpPr>
        <p:spPr>
          <a:xfrm>
            <a:off x="8385048" y="2788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timetable written on Monday stops matching reality as soon as work runs ahead or falls behind.</a:t>
            </a:r>
            <a:endParaRPr lang="en-US" sz="1400" dirty="0"/>
          </a:p>
        </p:txBody>
      </p:sp>
      <p:sp>
        <p:nvSpPr>
          <p:cNvPr id="19" name="card-25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20" name="text-26"/>
          <p:cNvSpPr txBox="1"/>
          <p:nvPr/>
        </p:nvSpPr>
        <p:spPr>
          <a:xfrm>
            <a:off x="86868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21" name="text-27"/>
          <p:cNvSpPr txBox="1"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student's tasks, deadlines, estimated effort, progress, daily hours and their own folders: show which work is at risk, find the files that help, choose what to do next, and keep the plan current as progress is recorded.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EXISTING SOLUTIONS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tool covers part of the workflow</a:t>
            </a:r>
            <a:endParaRPr lang="en-US" sz="2600" dirty="0"/>
          </a:p>
        </p:txBody>
      </p:sp>
      <p:graphicFrame>
        <p:nvGraphicFramePr>
          <p:cNvPr id="4" name="tool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4864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ITS OWN PAGE DESCRIBES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 WITH KAIROS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with four priority levels, P1 to P4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priority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MyStudyLife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Timetable, assignment tracker, exam countdowns, reminders, focus timer, AI week planning, calendar sync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Tasks, reminders, focus timer, planning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Auto-schedules tasks by deadline, priority and duration, within working hours and around calendar events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into available time — more capable than KAIROS here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Obsidian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 stored on the device as plain-text Markdown, available offline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Private, local files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28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text-2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these, on the pages checked,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folders a student already uses for each task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explains workload risk against the hours left. KAIROS combines those with tasks, a plan and focus sessions.</a:t>
            </a:r>
            <a:endParaRPr lang="en-US" sz="1400" dirty="0"/>
          </a:p>
        </p:txBody>
      </p:sp>
      <p:sp>
        <p:nvSpPr>
          <p:cNvPr id="7" name="text-30"/>
          <p:cNvSpPr txBox="1"/>
          <p:nvPr/>
        </p:nvSpPr>
        <p:spPr>
          <a:xfrm>
            <a:off x="54864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features stated on each product's own page are listed (checked 25 Oct 2026). Absence here does not prove a product lacks a feature. Sources: slide 19.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RESEARCH GAP / NOVELTY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KAIROS brings together</a:t>
            </a:r>
            <a:endParaRPr lang="en-US" sz="2600" dirty="0"/>
          </a:p>
        </p:txBody>
      </p:sp>
      <p:sp>
        <p:nvSpPr>
          <p:cNvPr id="4" name="card-31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5" name="num-32"/>
          <p:cNvSpPr/>
          <p:nvPr/>
        </p:nvSpPr>
        <p:spPr>
          <a:xfrm>
            <a:off x="777240" y="17556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numtext-33"/>
          <p:cNvSpPr txBox="1"/>
          <p:nvPr/>
        </p:nvSpPr>
        <p:spPr>
          <a:xfrm>
            <a:off x="77724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-34"/>
          <p:cNvSpPr txBox="1"/>
          <p:nvPr/>
        </p:nvSpPr>
        <p:spPr>
          <a:xfrm>
            <a:off x="1280160" y="1773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from your own folders</a:t>
            </a:r>
            <a:endParaRPr lang="en-US" sz="1500" dirty="0"/>
          </a:p>
        </p:txBody>
      </p:sp>
      <p:sp>
        <p:nvSpPr>
          <p:cNvPr id="8" name="text-35"/>
          <p:cNvSpPr txBox="1"/>
          <p:nvPr/>
        </p:nvSpPr>
        <p:spPr>
          <a:xfrm>
            <a:off x="4892040" y="16733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the folders a student already uses, reads inside common file types, and leaves every file where it is.</a:t>
            </a:r>
            <a:endParaRPr lang="en-US" sz="1300" dirty="0"/>
          </a:p>
        </p:txBody>
      </p:sp>
      <p:sp>
        <p:nvSpPr>
          <p:cNvPr id="9" name="card-36"/>
          <p:cNvSpPr/>
          <p:nvPr/>
        </p:nvSpPr>
        <p:spPr>
          <a:xfrm>
            <a:off x="548640" y="2404872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0" name="num-37"/>
          <p:cNvSpPr/>
          <p:nvPr/>
        </p:nvSpPr>
        <p:spPr>
          <a:xfrm>
            <a:off x="777240" y="26060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text-38"/>
          <p:cNvSpPr txBox="1"/>
          <p:nvPr/>
        </p:nvSpPr>
        <p:spPr>
          <a:xfrm>
            <a:off x="7772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-39"/>
          <p:cNvSpPr txBox="1"/>
          <p:nvPr/>
        </p:nvSpPr>
        <p:spPr>
          <a:xfrm>
            <a:off x="1280160" y="2624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workload risk</a:t>
            </a:r>
            <a:endParaRPr lang="en-US" sz="1500" dirty="0"/>
          </a:p>
        </p:txBody>
      </p:sp>
      <p:sp>
        <p:nvSpPr>
          <p:cNvPr id="13" name="text-40"/>
          <p:cNvSpPr txBox="1"/>
          <p:nvPr/>
        </p:nvSpPr>
        <p:spPr>
          <a:xfrm>
            <a:off x="4892040" y="25237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remaining effort with the hours left before each deadline, and says why in one sentence.</a:t>
            </a:r>
            <a:endParaRPr lang="en-US" sz="1300" dirty="0"/>
          </a:p>
        </p:txBody>
      </p:sp>
      <p:sp>
        <p:nvSpPr>
          <p:cNvPr id="14" name="card-41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15" name="num-42"/>
          <p:cNvSpPr/>
          <p:nvPr/>
        </p:nvSpPr>
        <p:spPr>
          <a:xfrm>
            <a:off x="777240" y="345643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numtext-43"/>
          <p:cNvSpPr txBox="1"/>
          <p:nvPr/>
        </p:nvSpPr>
        <p:spPr>
          <a:xfrm>
            <a:off x="7772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-44"/>
          <p:cNvSpPr txBox="1"/>
          <p:nvPr/>
        </p:nvSpPr>
        <p:spPr>
          <a:xfrm>
            <a:off x="128016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next action, with reasons</a:t>
            </a:r>
            <a:endParaRPr lang="en-US" sz="1500" dirty="0"/>
          </a:p>
        </p:txBody>
      </p:sp>
      <p:sp>
        <p:nvSpPr>
          <p:cNvPr id="18" name="text-45"/>
          <p:cNvSpPr txBox="1"/>
          <p:nvPr/>
        </p:nvSpPr>
        <p:spPr>
          <a:xfrm>
            <a:off x="4892040" y="337413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a single task and a session length that fits the hours available today.</a:t>
            </a:r>
            <a:endParaRPr lang="en-US" sz="1300" dirty="0"/>
          </a:p>
        </p:txBody>
      </p:sp>
      <p:sp>
        <p:nvSpPr>
          <p:cNvPr id="19" name="card-46"/>
          <p:cNvSpPr/>
          <p:nvPr/>
        </p:nvSpPr>
        <p:spPr>
          <a:xfrm>
            <a:off x="548640" y="4105656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0" name="num-47"/>
          <p:cNvSpPr/>
          <p:nvPr/>
        </p:nvSpPr>
        <p:spPr>
          <a:xfrm>
            <a:off x="777240" y="4306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numtext-48"/>
          <p:cNvSpPr txBox="1"/>
          <p:nvPr/>
        </p:nvSpPr>
        <p:spPr>
          <a:xfrm>
            <a:off x="7772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-49"/>
          <p:cNvSpPr txBox="1"/>
          <p:nvPr/>
        </p:nvSpPr>
        <p:spPr>
          <a:xfrm>
            <a:off x="1280160" y="4325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that moves with progress</a:t>
            </a:r>
            <a:endParaRPr lang="en-US" sz="1500" dirty="0"/>
          </a:p>
        </p:txBody>
      </p:sp>
      <p:sp>
        <p:nvSpPr>
          <p:cNvPr id="23" name="text-50"/>
          <p:cNvSpPr txBox="1"/>
          <p:nvPr/>
        </p:nvSpPr>
        <p:spPr>
          <a:xfrm>
            <a:off x="4892040" y="422452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sessions update remaining effort; risk, recommendation and plan recalculate at once.</a:t>
            </a:r>
            <a:endParaRPr lang="en-US" sz="1300" dirty="0"/>
          </a:p>
        </p:txBody>
      </p:sp>
      <p:sp>
        <p:nvSpPr>
          <p:cNvPr id="24" name="card-51"/>
          <p:cNvSpPr/>
          <p:nvPr/>
        </p:nvSpPr>
        <p:spPr>
          <a:xfrm>
            <a:off x="548640" y="4956048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/>
        </p:spPr>
      </p:sp>
      <p:sp>
        <p:nvSpPr>
          <p:cNvPr id="25" name="num-52"/>
          <p:cNvSpPr/>
          <p:nvPr/>
        </p:nvSpPr>
        <p:spPr>
          <a:xfrm>
            <a:off x="777240" y="515721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numtext-53"/>
          <p:cNvSpPr txBox="1"/>
          <p:nvPr/>
        </p:nvSpPr>
        <p:spPr>
          <a:xfrm>
            <a:off x="777240" y="5157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-54"/>
          <p:cNvSpPr txBox="1"/>
          <p:nvPr/>
        </p:nvSpPr>
        <p:spPr>
          <a:xfrm>
            <a:off x="1280160" y="5175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and private</a:t>
            </a:r>
            <a:endParaRPr lang="en-US" sz="1500" dirty="0"/>
          </a:p>
        </p:txBody>
      </p:sp>
      <p:sp>
        <p:nvSpPr>
          <p:cNvPr id="28" name="text-55"/>
          <p:cNvSpPr txBox="1"/>
          <p:nvPr/>
        </p:nvSpPr>
        <p:spPr>
          <a:xfrm>
            <a:off x="4892040" y="5074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account. Files never leave the computer; web suggestions are opt-in and send only search words.</a:t>
            </a:r>
            <a:endParaRPr lang="en-US" sz="1300" dirty="0"/>
          </a:p>
        </p:txBody>
      </p:sp>
      <p:sp>
        <p:nvSpPr>
          <p:cNvPr id="29" name="text-56"/>
          <p:cNvSpPr txBox="1"/>
          <p:nvPr/>
        </p:nvSpPr>
        <p:spPr>
          <a:xfrm>
            <a:off x="54864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feature is new. The contribution is the combination, in one student workflow.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PROJECT OBJECTIVES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sets out to do</a:t>
            </a:r>
            <a:endParaRPr lang="en-US" sz="2600" dirty="0"/>
          </a:p>
        </p:txBody>
      </p:sp>
      <p:sp>
        <p:nvSpPr>
          <p:cNvPr id="4" name="card-57"/>
          <p:cNvSpPr/>
          <p:nvPr/>
        </p:nvSpPr>
        <p:spPr>
          <a:xfrm>
            <a:off x="548640" y="160020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5" name="num-58"/>
          <p:cNvSpPr/>
          <p:nvPr/>
        </p:nvSpPr>
        <p:spPr>
          <a:xfrm>
            <a:off x="804672" y="18653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text-59"/>
          <p:cNvSpPr txBox="1"/>
          <p:nvPr/>
        </p:nvSpPr>
        <p:spPr>
          <a:xfrm>
            <a:off x="804672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-60"/>
          <p:cNvSpPr txBox="1"/>
          <p:nvPr/>
        </p:nvSpPr>
        <p:spPr>
          <a:xfrm>
            <a:off x="1371600" y="17647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tasks with deadline, priority, effort and progress</a:t>
            </a:r>
            <a:endParaRPr lang="en-US" sz="1500" dirty="0"/>
          </a:p>
        </p:txBody>
      </p:sp>
      <p:sp>
        <p:nvSpPr>
          <p:cNvPr id="8" name="card-61"/>
          <p:cNvSpPr/>
          <p:nvPr/>
        </p:nvSpPr>
        <p:spPr>
          <a:xfrm>
            <a:off x="6172200" y="160020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9" name="num-62"/>
          <p:cNvSpPr/>
          <p:nvPr/>
        </p:nvSpPr>
        <p:spPr>
          <a:xfrm>
            <a:off x="6428232" y="186537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text-63"/>
          <p:cNvSpPr txBox="1"/>
          <p:nvPr/>
        </p:nvSpPr>
        <p:spPr>
          <a:xfrm>
            <a:off x="6428232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-64"/>
          <p:cNvSpPr txBox="1"/>
          <p:nvPr/>
        </p:nvSpPr>
        <p:spPr>
          <a:xfrm>
            <a:off x="6995160" y="17647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deadline risk and explain it in plain words</a:t>
            </a:r>
            <a:endParaRPr lang="en-US" sz="1500" dirty="0"/>
          </a:p>
        </p:txBody>
      </p:sp>
      <p:sp>
        <p:nvSpPr>
          <p:cNvPr id="12" name="card-65"/>
          <p:cNvSpPr/>
          <p:nvPr/>
        </p:nvSpPr>
        <p:spPr>
          <a:xfrm>
            <a:off x="548640" y="265176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3" name="num-66"/>
          <p:cNvSpPr/>
          <p:nvPr/>
        </p:nvSpPr>
        <p:spPr>
          <a:xfrm>
            <a:off x="804672" y="291693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umtext-67"/>
          <p:cNvSpPr txBox="1"/>
          <p:nvPr/>
        </p:nvSpPr>
        <p:spPr>
          <a:xfrm>
            <a:off x="804672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-68"/>
          <p:cNvSpPr txBox="1"/>
          <p:nvPr/>
        </p:nvSpPr>
        <p:spPr>
          <a:xfrm>
            <a:off x="1371600" y="28163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one next task and a realistic session length</a:t>
            </a:r>
            <a:endParaRPr lang="en-US" sz="1500" dirty="0"/>
          </a:p>
        </p:txBody>
      </p:sp>
      <p:sp>
        <p:nvSpPr>
          <p:cNvPr id="16" name="card-69"/>
          <p:cNvSpPr/>
          <p:nvPr/>
        </p:nvSpPr>
        <p:spPr>
          <a:xfrm>
            <a:off x="6172200" y="265176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7" name="num-70"/>
          <p:cNvSpPr/>
          <p:nvPr/>
        </p:nvSpPr>
        <p:spPr>
          <a:xfrm>
            <a:off x="6428232" y="291693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text-71"/>
          <p:cNvSpPr txBox="1"/>
          <p:nvPr/>
        </p:nvSpPr>
        <p:spPr>
          <a:xfrm>
            <a:off x="6428232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-72"/>
          <p:cNvSpPr txBox="1"/>
          <p:nvPr/>
        </p:nvSpPr>
        <p:spPr>
          <a:xfrm>
            <a:off x="6995160" y="28163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only folders the student chooses, and keep them current</a:t>
            </a:r>
            <a:endParaRPr lang="en-US" sz="1500" dirty="0"/>
          </a:p>
        </p:txBody>
      </p:sp>
      <p:sp>
        <p:nvSpPr>
          <p:cNvPr id="20" name="card-73"/>
          <p:cNvSpPr/>
          <p:nvPr/>
        </p:nvSpPr>
        <p:spPr>
          <a:xfrm>
            <a:off x="548640" y="370332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1" name="num-74"/>
          <p:cNvSpPr/>
          <p:nvPr/>
        </p:nvSpPr>
        <p:spPr>
          <a:xfrm>
            <a:off x="804672" y="39684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numtext-75"/>
          <p:cNvSpPr txBox="1"/>
          <p:nvPr/>
        </p:nvSpPr>
        <p:spPr>
          <a:xfrm>
            <a:off x="804672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-76"/>
          <p:cNvSpPr txBox="1"/>
          <p:nvPr/>
        </p:nvSpPr>
        <p:spPr>
          <a:xfrm>
            <a:off x="1371600" y="3867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files with visible reasons; web suggestions optional</a:t>
            </a:r>
            <a:endParaRPr lang="en-US" sz="1500" dirty="0"/>
          </a:p>
        </p:txBody>
      </p:sp>
      <p:sp>
        <p:nvSpPr>
          <p:cNvPr id="24" name="card-77"/>
          <p:cNvSpPr/>
          <p:nvPr/>
        </p:nvSpPr>
        <p:spPr>
          <a:xfrm>
            <a:off x="6172200" y="370332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5" name="num-78"/>
          <p:cNvSpPr/>
          <p:nvPr/>
        </p:nvSpPr>
        <p:spPr>
          <a:xfrm>
            <a:off x="6428232" y="39684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numtext-79"/>
          <p:cNvSpPr txBox="1"/>
          <p:nvPr/>
        </p:nvSpPr>
        <p:spPr>
          <a:xfrm>
            <a:off x="6428232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-80"/>
          <p:cNvSpPr txBox="1"/>
          <p:nvPr/>
        </p:nvSpPr>
        <p:spPr>
          <a:xfrm>
            <a:off x="6995160" y="3867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remaining work into daily and weekly hours</a:t>
            </a:r>
            <a:endParaRPr lang="en-US" sz="1500" dirty="0"/>
          </a:p>
        </p:txBody>
      </p:sp>
      <p:sp>
        <p:nvSpPr>
          <p:cNvPr id="28" name="card-81"/>
          <p:cNvSpPr/>
          <p:nvPr/>
        </p:nvSpPr>
        <p:spPr>
          <a:xfrm>
            <a:off x="548640" y="475488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9" name="num-82"/>
          <p:cNvSpPr/>
          <p:nvPr/>
        </p:nvSpPr>
        <p:spPr>
          <a:xfrm>
            <a:off x="804672" y="502005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text-83"/>
          <p:cNvSpPr txBox="1"/>
          <p:nvPr/>
        </p:nvSpPr>
        <p:spPr>
          <a:xfrm>
            <a:off x="804672" y="5020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-84"/>
          <p:cNvSpPr txBox="1"/>
          <p:nvPr/>
        </p:nvSpPr>
        <p:spPr>
          <a:xfrm>
            <a:off x="1371600" y="49194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focus sessions that update progress and the plan</a:t>
            </a:r>
            <a:endParaRPr lang="en-US" sz="1500" dirty="0"/>
          </a:p>
        </p:txBody>
      </p:sp>
      <p:sp>
        <p:nvSpPr>
          <p:cNvPr id="32" name="card-85"/>
          <p:cNvSpPr/>
          <p:nvPr/>
        </p:nvSpPr>
        <p:spPr>
          <a:xfrm>
            <a:off x="6172200" y="4754880"/>
            <a:ext cx="544068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3" name="num-86"/>
          <p:cNvSpPr/>
          <p:nvPr/>
        </p:nvSpPr>
        <p:spPr>
          <a:xfrm>
            <a:off x="6428232" y="502005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numtext-87"/>
          <p:cNvSpPr txBox="1"/>
          <p:nvPr/>
        </p:nvSpPr>
        <p:spPr>
          <a:xfrm>
            <a:off x="6428232" y="5020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-88"/>
          <p:cNvSpPr txBox="1"/>
          <p:nvPr/>
        </p:nvSpPr>
        <p:spPr>
          <a:xfrm>
            <a:off x="6995160" y="49194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every change locally; verify with tests and a browser run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runs on the student's computer</a:t>
            </a:r>
            <a:endParaRPr lang="en-US" sz="2600" dirty="0"/>
          </a:p>
        </p:txBody>
      </p:sp>
      <p:sp>
        <p:nvSpPr>
          <p:cNvPr id="4" name="ui-box"/>
          <p:cNvSpPr/>
          <p:nvPr/>
        </p:nvSpPr>
        <p:spPr>
          <a:xfrm>
            <a:off x="548640" y="146304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-89"/>
          <p:cNvSpPr txBox="1"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interface in the browser</a:t>
            </a:r>
            <a:endParaRPr lang="en-US" sz="1500" dirty="0"/>
          </a:p>
        </p:txBody>
      </p:sp>
      <p:sp>
        <p:nvSpPr>
          <p:cNvPr id="6" name="text-90"/>
          <p:cNvSpPr txBox="1"/>
          <p:nvPr/>
        </p:nvSpPr>
        <p:spPr>
          <a:xfrm>
            <a:off x="548640" y="1828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Tasks  ·  Knowledge  ·  Plan  ·  Focus  ·  Progress  ·  Settings</a:t>
            </a:r>
            <a:endParaRPr lang="en-US" sz="1200" dirty="0"/>
          </a:p>
        </p:txBody>
      </p:sp>
      <p:sp>
        <p:nvSpPr>
          <p:cNvPr id="7" name="arrow-91"/>
          <p:cNvSpPr/>
          <p:nvPr/>
        </p:nvSpPr>
        <p:spPr>
          <a:xfrm>
            <a:off x="6080760" y="2167128"/>
            <a:ext cx="91" cy="265176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8" name="text-92"/>
          <p:cNvSpPr txBox="1"/>
          <p:nvPr/>
        </p:nvSpPr>
        <p:spPr>
          <a:xfrm>
            <a:off x="621792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over local HTTP (/api)</a:t>
            </a:r>
            <a:endParaRPr lang="en-US" sz="1100" dirty="0"/>
          </a:p>
        </p:txBody>
      </p:sp>
      <p:sp>
        <p:nvSpPr>
          <p:cNvPr id="9" name="backend-box"/>
          <p:cNvSpPr/>
          <p:nvPr/>
        </p:nvSpPr>
        <p:spPr>
          <a:xfrm>
            <a:off x="548640" y="2450592"/>
            <a:ext cx="11064240" cy="2578608"/>
          </a:xfrm>
          <a:prstGeom prst="roundRect">
            <a:avLst>
              <a:gd name="adj" fmla="val 2837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-93"/>
          <p:cNvSpPr txBox="1"/>
          <p:nvPr/>
        </p:nvSpPr>
        <p:spPr>
          <a:xfrm>
            <a:off x="777240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 on this computer (127.0.0.1)</a:t>
            </a:r>
            <a:endParaRPr lang="en-US" sz="1300" dirty="0"/>
          </a:p>
        </p:txBody>
      </p:sp>
      <p:sp>
        <p:nvSpPr>
          <p:cNvPr id="11" name="card-94"/>
          <p:cNvSpPr/>
          <p:nvPr/>
        </p:nvSpPr>
        <p:spPr>
          <a:xfrm>
            <a:off x="777240" y="288036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2" name="text-95"/>
          <p:cNvSpPr txBox="1"/>
          <p:nvPr/>
        </p:nvSpPr>
        <p:spPr>
          <a:xfrm>
            <a:off x="978408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analysis</a:t>
            </a:r>
            <a:endParaRPr lang="en-US" sz="1400" dirty="0"/>
          </a:p>
        </p:txBody>
      </p:sp>
      <p:sp>
        <p:nvSpPr>
          <p:cNvPr id="13" name="text-96"/>
          <p:cNvSpPr txBox="1"/>
          <p:nvPr/>
        </p:nvSpPr>
        <p:spPr>
          <a:xfrm>
            <a:off x="978408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urgency, deadline risk,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</a:t>
            </a:r>
            <a:endParaRPr lang="en-US" sz="1200" dirty="0"/>
          </a:p>
        </p:txBody>
      </p:sp>
      <p:sp>
        <p:nvSpPr>
          <p:cNvPr id="14" name="card-97"/>
          <p:cNvSpPr/>
          <p:nvPr/>
        </p:nvSpPr>
        <p:spPr>
          <a:xfrm>
            <a:off x="4389120" y="288036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5" name="text-98"/>
          <p:cNvSpPr txBox="1"/>
          <p:nvPr/>
        </p:nvSpPr>
        <p:spPr>
          <a:xfrm>
            <a:off x="4590288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module</a:t>
            </a:r>
            <a:endParaRPr lang="en-US" sz="1400" dirty="0"/>
          </a:p>
        </p:txBody>
      </p:sp>
      <p:sp>
        <p:nvSpPr>
          <p:cNvPr id="16" name="text-99"/>
          <p:cNvSpPr txBox="1"/>
          <p:nvPr/>
        </p:nvSpPr>
        <p:spPr>
          <a:xfrm>
            <a:off x="4590288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day-by-day plan within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and weekly hours</a:t>
            </a:r>
            <a:endParaRPr lang="en-US" sz="1200" dirty="0"/>
          </a:p>
        </p:txBody>
      </p:sp>
      <p:sp>
        <p:nvSpPr>
          <p:cNvPr id="17" name="card-100"/>
          <p:cNvSpPr/>
          <p:nvPr/>
        </p:nvSpPr>
        <p:spPr>
          <a:xfrm>
            <a:off x="8001000" y="288036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8" name="text-101"/>
          <p:cNvSpPr txBox="1"/>
          <p:nvPr/>
        </p:nvSpPr>
        <p:spPr>
          <a:xfrm>
            <a:off x="8202168" y="30083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store</a:t>
            </a:r>
            <a:endParaRPr lang="en-US" sz="1400" dirty="0"/>
          </a:p>
        </p:txBody>
      </p:sp>
      <p:sp>
        <p:nvSpPr>
          <p:cNvPr id="19" name="text-102"/>
          <p:cNvSpPr txBox="1"/>
          <p:nvPr/>
        </p:nvSpPr>
        <p:spPr>
          <a:xfrm>
            <a:off x="8202168" y="33101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files, folders,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and settings</a:t>
            </a:r>
            <a:endParaRPr lang="en-US" sz="1200" dirty="0"/>
          </a:p>
        </p:txBody>
      </p:sp>
      <p:sp>
        <p:nvSpPr>
          <p:cNvPr id="20" name="card-103"/>
          <p:cNvSpPr/>
          <p:nvPr/>
        </p:nvSpPr>
        <p:spPr>
          <a:xfrm>
            <a:off x="77724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21" name="text-104"/>
          <p:cNvSpPr txBox="1"/>
          <p:nvPr/>
        </p:nvSpPr>
        <p:spPr>
          <a:xfrm>
            <a:off x="978408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service</a:t>
            </a:r>
            <a:endParaRPr lang="en-US" sz="1400" dirty="0"/>
          </a:p>
        </p:txBody>
      </p:sp>
      <p:sp>
        <p:nvSpPr>
          <p:cNvPr id="22" name="text-105"/>
          <p:cNvSpPr txBox="1"/>
          <p:nvPr/>
        </p:nvSpPr>
        <p:spPr>
          <a:xfrm>
            <a:off x="978408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folders you choose,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results with reasons</a:t>
            </a:r>
            <a:endParaRPr lang="en-US" sz="1200" dirty="0"/>
          </a:p>
        </p:txBody>
      </p:sp>
      <p:sp>
        <p:nvSpPr>
          <p:cNvPr id="23" name="card-106"/>
          <p:cNvSpPr/>
          <p:nvPr/>
        </p:nvSpPr>
        <p:spPr>
          <a:xfrm>
            <a:off x="438912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24" name="text-107"/>
          <p:cNvSpPr txBox="1"/>
          <p:nvPr/>
        </p:nvSpPr>
        <p:spPr>
          <a:xfrm>
            <a:off x="4590288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and progress</a:t>
            </a:r>
            <a:endParaRPr lang="en-US" sz="1400" dirty="0"/>
          </a:p>
        </p:txBody>
      </p:sp>
      <p:sp>
        <p:nvSpPr>
          <p:cNvPr id="25" name="text-108"/>
          <p:cNvSpPr txBox="1"/>
          <p:nvPr/>
        </p:nvSpPr>
        <p:spPr>
          <a:xfrm>
            <a:off x="4590288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record time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task progress</a:t>
            </a:r>
            <a:endParaRPr lang="en-US" sz="1200" dirty="0"/>
          </a:p>
        </p:txBody>
      </p:sp>
      <p:sp>
        <p:nvSpPr>
          <p:cNvPr id="26" name="card-109"/>
          <p:cNvSpPr/>
          <p:nvPr/>
        </p:nvSpPr>
        <p:spPr>
          <a:xfrm>
            <a:off x="8001000" y="393192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27" name="text-110"/>
          <p:cNvSpPr txBox="1"/>
          <p:nvPr/>
        </p:nvSpPr>
        <p:spPr>
          <a:xfrm>
            <a:off x="8202168" y="4059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8" name="text-111"/>
          <p:cNvSpPr txBox="1"/>
          <p:nvPr/>
        </p:nvSpPr>
        <p:spPr>
          <a:xfrm>
            <a:off x="8202168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JSON snapshot,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 on start</a:t>
            </a:r>
            <a:endParaRPr lang="en-US" sz="1200" dirty="0"/>
          </a:p>
        </p:txBody>
      </p:sp>
      <p:sp>
        <p:nvSpPr>
          <p:cNvPr id="29" name="ext-112"/>
          <p:cNvSpPr/>
          <p:nvPr/>
        </p:nvSpPr>
        <p:spPr>
          <a:xfrm>
            <a:off x="777240" y="5486400"/>
            <a:ext cx="33832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30" name="text-113"/>
          <p:cNvSpPr txBox="1"/>
          <p:nvPr/>
        </p:nvSpPr>
        <p:spPr>
          <a:xfrm>
            <a:off x="978408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folders</a:t>
            </a:r>
            <a:endParaRPr lang="en-US" sz="1400" dirty="0"/>
          </a:p>
        </p:txBody>
      </p:sp>
      <p:sp>
        <p:nvSpPr>
          <p:cNvPr id="31" name="text-114"/>
          <p:cNvSpPr txBox="1"/>
          <p:nvPr/>
        </p:nvSpPr>
        <p:spPr>
          <a:xfrm>
            <a:off x="978408" y="5870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notes, slides, PDFs, code</a:t>
            </a:r>
            <a:endParaRPr lang="en-US" sz="1200" dirty="0"/>
          </a:p>
        </p:txBody>
      </p:sp>
      <p:sp>
        <p:nvSpPr>
          <p:cNvPr id="32" name="ext-115"/>
          <p:cNvSpPr/>
          <p:nvPr/>
        </p:nvSpPr>
        <p:spPr>
          <a:xfrm>
            <a:off x="4389120" y="5486400"/>
            <a:ext cx="33832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33" name="text-116"/>
          <p:cNvSpPr txBox="1"/>
          <p:nvPr/>
        </p:nvSpPr>
        <p:spPr>
          <a:xfrm>
            <a:off x="4590288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</a:t>
            </a:r>
            <a:endParaRPr lang="en-US" sz="1400" dirty="0"/>
          </a:p>
        </p:txBody>
      </p:sp>
      <p:sp>
        <p:nvSpPr>
          <p:cNvPr id="34" name="text-117"/>
          <p:cNvSpPr txBox="1"/>
          <p:nvPr/>
        </p:nvSpPr>
        <p:spPr>
          <a:xfrm>
            <a:off x="4590288" y="5870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suggestions, off by default</a:t>
            </a:r>
            <a:endParaRPr lang="en-US" sz="1200" dirty="0"/>
          </a:p>
        </p:txBody>
      </p:sp>
      <p:sp>
        <p:nvSpPr>
          <p:cNvPr id="35" name="ext-118"/>
          <p:cNvSpPr/>
          <p:nvPr/>
        </p:nvSpPr>
        <p:spPr>
          <a:xfrm>
            <a:off x="8001000" y="5486400"/>
            <a:ext cx="338328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36" name="text-119"/>
          <p:cNvSpPr txBox="1"/>
          <p:nvPr/>
        </p:nvSpPr>
        <p:spPr>
          <a:xfrm>
            <a:off x="8202168" y="5559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file</a:t>
            </a:r>
            <a:endParaRPr lang="en-US" sz="1400" dirty="0"/>
          </a:p>
        </p:txBody>
      </p:sp>
      <p:sp>
        <p:nvSpPr>
          <p:cNvPr id="37" name="text-120"/>
          <p:cNvSpPr txBox="1"/>
          <p:nvPr/>
        </p:nvSpPr>
        <p:spPr>
          <a:xfrm>
            <a:off x="8202168" y="5870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kairos_snapshot.json</a:t>
            </a:r>
            <a:endParaRPr lang="en-US" sz="1200" dirty="0"/>
          </a:p>
        </p:txBody>
      </p:sp>
      <p:sp>
        <p:nvSpPr>
          <p:cNvPr id="38" name="arrow-121"/>
          <p:cNvSpPr/>
          <p:nvPr/>
        </p:nvSpPr>
        <p:spPr>
          <a:xfrm>
            <a:off x="1737360" y="4846320"/>
            <a:ext cx="91" cy="6400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9" name="text-122"/>
          <p:cNvSpPr txBox="1"/>
          <p:nvPr/>
        </p:nvSpPr>
        <p:spPr>
          <a:xfrm>
            <a:off x="868680" y="5138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only</a:t>
            </a:r>
            <a:endParaRPr lang="en-US" sz="1100" dirty="0"/>
          </a:p>
        </p:txBody>
      </p:sp>
      <p:sp>
        <p:nvSpPr>
          <p:cNvPr id="40" name="arrow-123"/>
          <p:cNvSpPr/>
          <p:nvPr/>
        </p:nvSpPr>
        <p:spPr>
          <a:xfrm>
            <a:off x="3840480" y="4846320"/>
            <a:ext cx="91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41" name="arrow-124"/>
          <p:cNvSpPr/>
          <p:nvPr/>
        </p:nvSpPr>
        <p:spPr>
          <a:xfrm>
            <a:off x="3840480" y="5257800"/>
            <a:ext cx="2240280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42" name="arrow-125"/>
          <p:cNvSpPr/>
          <p:nvPr/>
        </p:nvSpPr>
        <p:spPr>
          <a:xfrm>
            <a:off x="6080760" y="5257800"/>
            <a:ext cx="91" cy="2286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text-126"/>
          <p:cNvSpPr txBox="1"/>
          <p:nvPr/>
        </p:nvSpPr>
        <p:spPr>
          <a:xfrm>
            <a:off x="6199632" y="5120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words only, if turned on</a:t>
            </a:r>
            <a:endParaRPr lang="en-US" sz="1050" dirty="0"/>
          </a:p>
        </p:txBody>
      </p:sp>
      <p:sp>
        <p:nvSpPr>
          <p:cNvPr id="44" name="arrow-127"/>
          <p:cNvSpPr/>
          <p:nvPr/>
        </p:nvSpPr>
        <p:spPr>
          <a:xfrm>
            <a:off x="9692640" y="4846320"/>
            <a:ext cx="91" cy="6400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text-128"/>
          <p:cNvSpPr txBox="1"/>
          <p:nvPr/>
        </p:nvSpPr>
        <p:spPr>
          <a:xfrm>
            <a:off x="9811512" y="5138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change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METHODOLOGY / WORKFLOW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journey from task to updated plan</a:t>
            </a:r>
            <a:endParaRPr lang="en-US" sz="2600" dirty="0"/>
          </a:p>
        </p:txBody>
      </p:sp>
      <p:sp>
        <p:nvSpPr>
          <p:cNvPr id="4" name="card-129"/>
          <p:cNvSpPr/>
          <p:nvPr/>
        </p:nvSpPr>
        <p:spPr>
          <a:xfrm>
            <a:off x="54864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bg2"/>
          </a:solidFill>
          <a:ln/>
        </p:spPr>
      </p:sp>
      <p:sp>
        <p:nvSpPr>
          <p:cNvPr id="5" name="num-130"/>
          <p:cNvSpPr/>
          <p:nvPr/>
        </p:nvSpPr>
        <p:spPr>
          <a:xfrm>
            <a:off x="713232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text-131"/>
          <p:cNvSpPr txBox="1"/>
          <p:nvPr/>
        </p:nvSpPr>
        <p:spPr>
          <a:xfrm>
            <a:off x="71323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-132"/>
          <p:cNvSpPr txBox="1"/>
          <p:nvPr/>
        </p:nvSpPr>
        <p:spPr>
          <a:xfrm>
            <a:off x="71323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daily hours</a:t>
            </a:r>
            <a:endParaRPr lang="en-US" sz="1300" dirty="0"/>
          </a:p>
        </p:txBody>
      </p:sp>
      <p:sp>
        <p:nvSpPr>
          <p:cNvPr id="8" name="text-133"/>
          <p:cNvSpPr txBox="1"/>
          <p:nvPr/>
        </p:nvSpPr>
        <p:spPr>
          <a:xfrm>
            <a:off x="71323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100" dirty="0"/>
          </a:p>
        </p:txBody>
      </p:sp>
      <p:sp>
        <p:nvSpPr>
          <p:cNvPr id="9" name="arrow-134"/>
          <p:cNvSpPr/>
          <p:nvPr/>
        </p:nvSpPr>
        <p:spPr>
          <a:xfrm>
            <a:off x="1924812" y="2606040"/>
            <a:ext cx="219456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card-135"/>
          <p:cNvSpPr/>
          <p:nvPr/>
        </p:nvSpPr>
        <p:spPr>
          <a:xfrm>
            <a:off x="217170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bg2"/>
          </a:solidFill>
          <a:ln/>
        </p:spPr>
      </p:sp>
      <p:sp>
        <p:nvSpPr>
          <p:cNvPr id="11" name="num-136"/>
          <p:cNvSpPr/>
          <p:nvPr/>
        </p:nvSpPr>
        <p:spPr>
          <a:xfrm>
            <a:off x="2336292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numtext-137"/>
          <p:cNvSpPr txBox="1"/>
          <p:nvPr/>
        </p:nvSpPr>
        <p:spPr>
          <a:xfrm>
            <a:off x="233629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-138"/>
          <p:cNvSpPr txBox="1"/>
          <p:nvPr/>
        </p:nvSpPr>
        <p:spPr>
          <a:xfrm>
            <a:off x="233629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tasks</a:t>
            </a:r>
            <a:endParaRPr lang="en-US" sz="1300" dirty="0"/>
          </a:p>
        </p:txBody>
      </p:sp>
      <p:sp>
        <p:nvSpPr>
          <p:cNvPr id="14" name="text-139"/>
          <p:cNvSpPr txBox="1"/>
          <p:nvPr/>
        </p:nvSpPr>
        <p:spPr>
          <a:xfrm>
            <a:off x="233629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deadline, priority, effort</a:t>
            </a:r>
            <a:endParaRPr lang="en-US" sz="1100" dirty="0"/>
          </a:p>
        </p:txBody>
      </p:sp>
      <p:sp>
        <p:nvSpPr>
          <p:cNvPr id="15" name="arrow-140"/>
          <p:cNvSpPr/>
          <p:nvPr/>
        </p:nvSpPr>
        <p:spPr>
          <a:xfrm>
            <a:off x="3547872" y="2606040"/>
            <a:ext cx="219456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card-141"/>
          <p:cNvSpPr/>
          <p:nvPr/>
        </p:nvSpPr>
        <p:spPr>
          <a:xfrm>
            <a:off x="379476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bg2"/>
          </a:solidFill>
          <a:ln/>
        </p:spPr>
      </p:sp>
      <p:sp>
        <p:nvSpPr>
          <p:cNvPr id="17" name="num-142"/>
          <p:cNvSpPr/>
          <p:nvPr/>
        </p:nvSpPr>
        <p:spPr>
          <a:xfrm>
            <a:off x="3959352" y="18745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text-143"/>
          <p:cNvSpPr txBox="1"/>
          <p:nvPr/>
        </p:nvSpPr>
        <p:spPr>
          <a:xfrm>
            <a:off x="395935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-144"/>
          <p:cNvSpPr txBox="1"/>
          <p:nvPr/>
        </p:nvSpPr>
        <p:spPr>
          <a:xfrm>
            <a:off x="395935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folders</a:t>
            </a:r>
            <a:endParaRPr lang="en-US" sz="1300" dirty="0"/>
          </a:p>
        </p:txBody>
      </p:sp>
      <p:sp>
        <p:nvSpPr>
          <p:cNvPr id="20" name="text-145"/>
          <p:cNvSpPr txBox="1"/>
          <p:nvPr/>
        </p:nvSpPr>
        <p:spPr>
          <a:xfrm>
            <a:off x="395935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stay in place</a:t>
            </a:r>
            <a:endParaRPr lang="en-US" sz="1100" dirty="0"/>
          </a:p>
        </p:txBody>
      </p:sp>
      <p:sp>
        <p:nvSpPr>
          <p:cNvPr id="21" name="arrow-146"/>
          <p:cNvSpPr/>
          <p:nvPr/>
        </p:nvSpPr>
        <p:spPr>
          <a:xfrm>
            <a:off x="5170932" y="2606040"/>
            <a:ext cx="219456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card-147"/>
          <p:cNvSpPr/>
          <p:nvPr/>
        </p:nvSpPr>
        <p:spPr>
          <a:xfrm>
            <a:off x="541782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tx2"/>
          </a:solidFill>
          <a:ln/>
        </p:spPr>
      </p:sp>
      <p:sp>
        <p:nvSpPr>
          <p:cNvPr id="23" name="num-148"/>
          <p:cNvSpPr/>
          <p:nvPr/>
        </p:nvSpPr>
        <p:spPr>
          <a:xfrm>
            <a:off x="5582412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numtext-149"/>
          <p:cNvSpPr txBox="1"/>
          <p:nvPr/>
        </p:nvSpPr>
        <p:spPr>
          <a:xfrm>
            <a:off x="558241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-150"/>
          <p:cNvSpPr txBox="1"/>
          <p:nvPr/>
        </p:nvSpPr>
        <p:spPr>
          <a:xfrm>
            <a:off x="558241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risk and the next action</a:t>
            </a:r>
            <a:endParaRPr lang="en-US" sz="1300" dirty="0"/>
          </a:p>
        </p:txBody>
      </p:sp>
      <p:sp>
        <p:nvSpPr>
          <p:cNvPr id="26" name="text-151"/>
          <p:cNvSpPr txBox="1"/>
          <p:nvPr/>
        </p:nvSpPr>
        <p:spPr>
          <a:xfrm>
            <a:off x="558241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arrow-152"/>
          <p:cNvSpPr/>
          <p:nvPr/>
        </p:nvSpPr>
        <p:spPr>
          <a:xfrm>
            <a:off x="6793992" y="2606040"/>
            <a:ext cx="219456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card-153"/>
          <p:cNvSpPr/>
          <p:nvPr/>
        </p:nvSpPr>
        <p:spPr>
          <a:xfrm>
            <a:off x="704088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tx2"/>
          </a:solidFill>
          <a:ln/>
        </p:spPr>
      </p:sp>
      <p:sp>
        <p:nvSpPr>
          <p:cNvPr id="29" name="num-154"/>
          <p:cNvSpPr/>
          <p:nvPr/>
        </p:nvSpPr>
        <p:spPr>
          <a:xfrm>
            <a:off x="7205472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numtext-155"/>
          <p:cNvSpPr txBox="1"/>
          <p:nvPr/>
        </p:nvSpPr>
        <p:spPr>
          <a:xfrm>
            <a:off x="720547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-156"/>
          <p:cNvSpPr txBox="1"/>
          <p:nvPr/>
        </p:nvSpPr>
        <p:spPr>
          <a:xfrm>
            <a:off x="720547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files for it</a:t>
            </a:r>
            <a:endParaRPr lang="en-US" sz="1300" dirty="0"/>
          </a:p>
        </p:txBody>
      </p:sp>
      <p:sp>
        <p:nvSpPr>
          <p:cNvPr id="32" name="text-157"/>
          <p:cNvSpPr txBox="1"/>
          <p:nvPr/>
        </p:nvSpPr>
        <p:spPr>
          <a:xfrm>
            <a:off x="720547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or task details</a:t>
            </a:r>
            <a:endParaRPr lang="en-US" sz="1100" dirty="0"/>
          </a:p>
        </p:txBody>
      </p:sp>
      <p:sp>
        <p:nvSpPr>
          <p:cNvPr id="33" name="arrow-158"/>
          <p:cNvSpPr/>
          <p:nvPr/>
        </p:nvSpPr>
        <p:spPr>
          <a:xfrm>
            <a:off x="8417052" y="2606040"/>
            <a:ext cx="219456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card-159"/>
          <p:cNvSpPr/>
          <p:nvPr/>
        </p:nvSpPr>
        <p:spPr>
          <a:xfrm>
            <a:off x="866394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tx2"/>
          </a:solidFill>
          <a:ln/>
        </p:spPr>
      </p:sp>
      <p:sp>
        <p:nvSpPr>
          <p:cNvPr id="35" name="num-160"/>
          <p:cNvSpPr/>
          <p:nvPr/>
        </p:nvSpPr>
        <p:spPr>
          <a:xfrm>
            <a:off x="8828532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numtext-161"/>
          <p:cNvSpPr txBox="1"/>
          <p:nvPr/>
        </p:nvSpPr>
        <p:spPr>
          <a:xfrm>
            <a:off x="882853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-162"/>
          <p:cNvSpPr txBox="1"/>
          <p:nvPr/>
        </p:nvSpPr>
        <p:spPr>
          <a:xfrm>
            <a:off x="882853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and record progress</a:t>
            </a:r>
            <a:endParaRPr lang="en-US" sz="1300" dirty="0"/>
          </a:p>
        </p:txBody>
      </p:sp>
      <p:sp>
        <p:nvSpPr>
          <p:cNvPr id="38" name="text-163"/>
          <p:cNvSpPr txBox="1"/>
          <p:nvPr/>
        </p:nvSpPr>
        <p:spPr>
          <a:xfrm>
            <a:off x="882853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session at a time</a:t>
            </a:r>
            <a:endParaRPr lang="en-US" sz="1100" dirty="0"/>
          </a:p>
        </p:txBody>
      </p:sp>
      <p:sp>
        <p:nvSpPr>
          <p:cNvPr id="39" name="arrow-164"/>
          <p:cNvSpPr/>
          <p:nvPr/>
        </p:nvSpPr>
        <p:spPr>
          <a:xfrm>
            <a:off x="10040112" y="2606040"/>
            <a:ext cx="219456" cy="91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0" name="card-165"/>
          <p:cNvSpPr/>
          <p:nvPr/>
        </p:nvSpPr>
        <p:spPr>
          <a:xfrm>
            <a:off x="10287000" y="1691640"/>
            <a:ext cx="1348740" cy="1828800"/>
          </a:xfrm>
          <a:prstGeom prst="roundRect">
            <a:avLst>
              <a:gd name="adj" fmla="val 5424"/>
            </a:avLst>
          </a:prstGeom>
          <a:solidFill>
            <a:schemeClr val="tx2"/>
          </a:solidFill>
          <a:ln/>
        </p:spPr>
      </p:sp>
      <p:sp>
        <p:nvSpPr>
          <p:cNvPr id="41" name="num-166"/>
          <p:cNvSpPr/>
          <p:nvPr/>
        </p:nvSpPr>
        <p:spPr>
          <a:xfrm>
            <a:off x="10451592" y="18745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2" name="numtext-167"/>
          <p:cNvSpPr txBox="1"/>
          <p:nvPr/>
        </p:nvSpPr>
        <p:spPr>
          <a:xfrm>
            <a:off x="10451592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-168"/>
          <p:cNvSpPr txBox="1"/>
          <p:nvPr/>
        </p:nvSpPr>
        <p:spPr>
          <a:xfrm>
            <a:off x="10451592" y="2350008"/>
            <a:ext cx="10744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recalculates</a:t>
            </a:r>
            <a:endParaRPr lang="en-US" sz="1300" dirty="0"/>
          </a:p>
        </p:txBody>
      </p:sp>
      <p:sp>
        <p:nvSpPr>
          <p:cNvPr id="44" name="text-169"/>
          <p:cNvSpPr txBox="1"/>
          <p:nvPr/>
        </p:nvSpPr>
        <p:spPr>
          <a:xfrm>
            <a:off x="10451592" y="2990088"/>
            <a:ext cx="1074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first, within hours</a:t>
            </a:r>
            <a:endParaRPr lang="en-US" sz="1100" dirty="0"/>
          </a:p>
        </p:txBody>
      </p:sp>
      <p:sp>
        <p:nvSpPr>
          <p:cNvPr id="45" name="arrow-170"/>
          <p:cNvSpPr/>
          <p:nvPr/>
        </p:nvSpPr>
        <p:spPr>
          <a:xfrm>
            <a:off x="10961370" y="3520440"/>
            <a:ext cx="91" cy="45720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6" name="arrow-171"/>
          <p:cNvSpPr/>
          <p:nvPr/>
        </p:nvSpPr>
        <p:spPr>
          <a:xfrm flipH="1">
            <a:off x="6092190" y="3977640"/>
            <a:ext cx="4869180" cy="91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47" name="arrow-172"/>
          <p:cNvSpPr/>
          <p:nvPr/>
        </p:nvSpPr>
        <p:spPr>
          <a:xfrm flipV="1">
            <a:off x="6092190" y="3538728"/>
            <a:ext cx="91" cy="438912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8" name="text-173"/>
          <p:cNvSpPr txBox="1"/>
          <p:nvPr/>
        </p:nvSpPr>
        <p:spPr>
          <a:xfrm>
            <a:off x="6275070" y="4041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repeats after every focus session</a:t>
            </a:r>
            <a:endParaRPr lang="en-US" sz="1200" dirty="0"/>
          </a:p>
        </p:txBody>
      </p:sp>
      <p:sp>
        <p:nvSpPr>
          <p:cNvPr id="49" name="card-174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0" name="text-175"/>
          <p:cNvSpPr txBox="1"/>
          <p:nvPr/>
        </p:nvSpPr>
        <p:spPr>
          <a:xfrm>
            <a:off x="822960" y="491947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after every change, restored on restart.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steps repeat each working session: the next recommendation and plan always start from the student's real progress, not from Monday's timetable.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HOW DECISIONS ARE MADE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number on screen can be explained</a:t>
            </a:r>
            <a:endParaRPr lang="en-US" sz="2600" dirty="0"/>
          </a:p>
        </p:txBody>
      </p:sp>
      <p:sp>
        <p:nvSpPr>
          <p:cNvPr id="4" name="card-176"/>
          <p:cNvSpPr/>
          <p:nvPr/>
        </p:nvSpPr>
        <p:spPr>
          <a:xfrm>
            <a:off x="548640" y="1600200"/>
            <a:ext cx="3529584" cy="3657600"/>
          </a:xfrm>
          <a:prstGeom prst="roundRect">
            <a:avLst>
              <a:gd name="adj" fmla="val 2073"/>
            </a:avLst>
          </a:prstGeom>
          <a:solidFill>
            <a:schemeClr val="bg2"/>
          </a:solidFill>
          <a:ln/>
        </p:spPr>
      </p:sp>
      <p:sp>
        <p:nvSpPr>
          <p:cNvPr id="5" name="num-177"/>
          <p:cNvSpPr/>
          <p:nvPr/>
        </p:nvSpPr>
        <p:spPr>
          <a:xfrm>
            <a:off x="822960" y="1828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numtext-178"/>
          <p:cNvSpPr txBox="1"/>
          <p:nvPr/>
        </p:nvSpPr>
        <p:spPr>
          <a:xfrm>
            <a:off x="82296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-179"/>
          <p:cNvSpPr txBox="1"/>
          <p:nvPr/>
        </p:nvSpPr>
        <p:spPr>
          <a:xfrm>
            <a:off x="1280160" y="18562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risk</a:t>
            </a:r>
            <a:endParaRPr lang="en-US" sz="1700" dirty="0"/>
          </a:p>
        </p:txBody>
      </p:sp>
      <p:sp>
        <p:nvSpPr>
          <p:cNvPr id="8" name="text-180"/>
          <p:cNvSpPr txBox="1"/>
          <p:nvPr/>
        </p:nvSpPr>
        <p:spPr>
          <a:xfrm>
            <a:off x="822960" y="242316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= remaining effort ÷ hours before the deadline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overdue, or ratio ≥ 2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ratio &gt; 1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Moderate: ratio ≥ 0.75, or due within a day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otherwise</a:t>
            </a:r>
            <a:endParaRPr lang="en-US" sz="1300" dirty="0"/>
          </a:p>
        </p:txBody>
      </p:sp>
      <p:sp>
        <p:nvSpPr>
          <p:cNvPr id="9" name="text-181"/>
          <p:cNvSpPr txBox="1"/>
          <p:nvPr/>
        </p:nvSpPr>
        <p:spPr>
          <a:xfrm>
            <a:off x="822960" y="46177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workload estimate, not a probability.</a:t>
            </a:r>
            <a:endParaRPr lang="en-US" sz="1200" dirty="0"/>
          </a:p>
        </p:txBody>
      </p:sp>
      <p:sp>
        <p:nvSpPr>
          <p:cNvPr id="10" name="card-182"/>
          <p:cNvSpPr/>
          <p:nvPr/>
        </p:nvSpPr>
        <p:spPr>
          <a:xfrm>
            <a:off x="4329684" y="1600200"/>
            <a:ext cx="3529584" cy="3657600"/>
          </a:xfrm>
          <a:prstGeom prst="roundRect">
            <a:avLst>
              <a:gd name="adj" fmla="val 2073"/>
            </a:avLst>
          </a:prstGeom>
          <a:solidFill>
            <a:schemeClr val="bg2"/>
          </a:solidFill>
          <a:ln/>
        </p:spPr>
      </p:sp>
      <p:sp>
        <p:nvSpPr>
          <p:cNvPr id="11" name="num-183"/>
          <p:cNvSpPr/>
          <p:nvPr/>
        </p:nvSpPr>
        <p:spPr>
          <a:xfrm>
            <a:off x="4604004" y="1828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numtext-184"/>
          <p:cNvSpPr txBox="1"/>
          <p:nvPr/>
        </p:nvSpPr>
        <p:spPr>
          <a:xfrm>
            <a:off x="4604004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-185"/>
          <p:cNvSpPr txBox="1"/>
          <p:nvPr/>
        </p:nvSpPr>
        <p:spPr>
          <a:xfrm>
            <a:off x="5061204" y="18562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1700" dirty="0"/>
          </a:p>
        </p:txBody>
      </p:sp>
      <p:sp>
        <p:nvSpPr>
          <p:cNvPr id="14" name="text-186"/>
          <p:cNvSpPr txBox="1"/>
          <p:nvPr/>
        </p:nvSpPr>
        <p:spPr>
          <a:xfrm>
            <a:off x="4604004" y="242316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risk level first, then urgency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= 10 × priority weight + 100 ÷ (1 + days left) + 2 × remaining hours (+40 if overdue)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= shortest of 90 min, today's hours, remaining work</a:t>
            </a:r>
            <a:endParaRPr lang="en-US" sz="1300" dirty="0"/>
          </a:p>
        </p:txBody>
      </p:sp>
      <p:sp>
        <p:nvSpPr>
          <p:cNvPr id="15" name="text-187"/>
          <p:cNvSpPr txBox="1"/>
          <p:nvPr/>
        </p:nvSpPr>
        <p:spPr>
          <a:xfrm>
            <a:off x="4604004" y="46177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are hand-chosen, not tuned with users.</a:t>
            </a:r>
            <a:endParaRPr lang="en-US" sz="1200" dirty="0"/>
          </a:p>
        </p:txBody>
      </p:sp>
      <p:sp>
        <p:nvSpPr>
          <p:cNvPr id="16" name="card-188"/>
          <p:cNvSpPr/>
          <p:nvPr/>
        </p:nvSpPr>
        <p:spPr>
          <a:xfrm>
            <a:off x="8110728" y="1600200"/>
            <a:ext cx="3529584" cy="3657600"/>
          </a:xfrm>
          <a:prstGeom prst="roundRect">
            <a:avLst>
              <a:gd name="adj" fmla="val 2073"/>
            </a:avLst>
          </a:prstGeom>
          <a:solidFill>
            <a:schemeClr val="bg2"/>
          </a:solidFill>
          <a:ln/>
        </p:spPr>
      </p:sp>
      <p:sp>
        <p:nvSpPr>
          <p:cNvPr id="17" name="num-189"/>
          <p:cNvSpPr/>
          <p:nvPr/>
        </p:nvSpPr>
        <p:spPr>
          <a:xfrm>
            <a:off x="8385048" y="1828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numtext-190"/>
          <p:cNvSpPr txBox="1"/>
          <p:nvPr/>
        </p:nvSpPr>
        <p:spPr>
          <a:xfrm>
            <a:off x="8385048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-191"/>
          <p:cNvSpPr txBox="1"/>
          <p:nvPr/>
        </p:nvSpPr>
        <p:spPr>
          <a:xfrm>
            <a:off x="8842248" y="185623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ranking</a:t>
            </a:r>
            <a:endParaRPr lang="en-US" sz="1700" dirty="0"/>
          </a:p>
        </p:txBody>
      </p:sp>
      <p:sp>
        <p:nvSpPr>
          <p:cNvPr id="20" name="text-192"/>
          <p:cNvSpPr txBox="1"/>
          <p:nvPr/>
        </p:nvSpPr>
        <p:spPr>
          <a:xfrm>
            <a:off x="8385048" y="242316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add up, and the reasons are shown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 exact keyword · +12 prefix · +18 tag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 word inside the file · +25 phrase in title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 your own file · up to +6 by type · +6 / +3 recently changed</a:t>
            </a:r>
            <a:endParaRPr lang="en-US" sz="1300" dirty="0"/>
          </a:p>
        </p:txBody>
      </p:sp>
      <p:sp>
        <p:nvSpPr>
          <p:cNvPr id="21" name="text-193"/>
          <p:cNvSpPr txBox="1"/>
          <p:nvPr/>
        </p:nvSpPr>
        <p:spPr>
          <a:xfrm>
            <a:off x="8385048" y="4617720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files always rank above web suggestions.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OUTPUTS — WORKING APPLICATION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 names one next action and says why</a:t>
            </a:r>
            <a:endParaRPr lang="en-US" sz="2600" dirty="0"/>
          </a:p>
        </p:txBody>
      </p:sp>
      <p:sp>
        <p:nvSpPr>
          <p:cNvPr id="4" name="frame-194"/>
          <p:cNvSpPr/>
          <p:nvPr/>
        </p:nvSpPr>
        <p:spPr>
          <a:xfrm>
            <a:off x="475488" y="1481328"/>
            <a:ext cx="6242304" cy="4718304"/>
          </a:xfrm>
          <a:prstGeom prst="roundRect">
            <a:avLst>
              <a:gd name="adj" fmla="val 1163"/>
            </a:avLst>
          </a:prstGeom>
          <a:solidFill>
            <a:schemeClr val="bg2"/>
          </a:solidFill>
          <a:ln/>
        </p:spPr>
      </p:sp>
      <p:pic>
        <p:nvPicPr>
          <p:cNvPr id="5" name="screenshot-195" descr="dashboard screen of the KAIROS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096000" cy="4572000"/>
          </a:xfrm>
          <a:prstGeom prst="rect">
            <a:avLst/>
          </a:prstGeom>
        </p:spPr>
      </p:pic>
      <p:sp>
        <p:nvSpPr>
          <p:cNvPr id="6" name="num-196"/>
          <p:cNvSpPr/>
          <p:nvPr/>
        </p:nvSpPr>
        <p:spPr>
          <a:xfrm>
            <a:off x="3874008" y="241401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numtext-197"/>
          <p:cNvSpPr txBox="1"/>
          <p:nvPr/>
        </p:nvSpPr>
        <p:spPr>
          <a:xfrm>
            <a:off x="3874008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num-198"/>
          <p:cNvSpPr/>
          <p:nvPr/>
        </p:nvSpPr>
        <p:spPr>
          <a:xfrm>
            <a:off x="6397752" y="241401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numtext-199"/>
          <p:cNvSpPr txBox="1"/>
          <p:nvPr/>
        </p:nvSpPr>
        <p:spPr>
          <a:xfrm>
            <a:off x="639775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num-200"/>
          <p:cNvSpPr/>
          <p:nvPr/>
        </p:nvSpPr>
        <p:spPr>
          <a:xfrm>
            <a:off x="3874008" y="380847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text-201"/>
          <p:cNvSpPr txBox="1"/>
          <p:nvPr/>
        </p:nvSpPr>
        <p:spPr>
          <a:xfrm>
            <a:off x="3874008" y="38084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num-202"/>
          <p:cNvSpPr/>
          <p:nvPr/>
        </p:nvSpPr>
        <p:spPr>
          <a:xfrm>
            <a:off x="7086600" y="169164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numtext-203"/>
          <p:cNvSpPr txBox="1"/>
          <p:nvPr/>
        </p:nvSpPr>
        <p:spPr>
          <a:xfrm>
            <a:off x="708660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-204"/>
          <p:cNvSpPr txBox="1"/>
          <p:nvPr/>
        </p:nvSpPr>
        <p:spPr>
          <a:xfrm>
            <a:off x="7543800" y="1709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</a:t>
            </a:r>
            <a:endParaRPr lang="en-US" sz="1500" dirty="0"/>
          </a:p>
        </p:txBody>
      </p:sp>
      <p:sp>
        <p:nvSpPr>
          <p:cNvPr id="15" name="text-205"/>
          <p:cNvSpPr txBox="1"/>
          <p:nvPr/>
        </p:nvSpPr>
        <p:spPr>
          <a:xfrm>
            <a:off x="7543800" y="207568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Report, 90-minute session: about 5 h remain, with 9 h available before the deadline.</a:t>
            </a:r>
            <a:endParaRPr lang="en-US" sz="1300" dirty="0"/>
          </a:p>
        </p:txBody>
      </p:sp>
      <p:sp>
        <p:nvSpPr>
          <p:cNvPr id="16" name="num-206"/>
          <p:cNvSpPr/>
          <p:nvPr/>
        </p:nvSpPr>
        <p:spPr>
          <a:xfrm>
            <a:off x="7086600" y="301752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numtext-207"/>
          <p:cNvSpPr txBox="1"/>
          <p:nvPr/>
        </p:nvSpPr>
        <p:spPr>
          <a:xfrm>
            <a:off x="708660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-208"/>
          <p:cNvSpPr txBox="1"/>
          <p:nvPr/>
        </p:nvSpPr>
        <p:spPr>
          <a:xfrm>
            <a:off x="7543800" y="3035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risk</a:t>
            </a:r>
            <a:endParaRPr lang="en-US" sz="1500" dirty="0"/>
          </a:p>
        </p:txBody>
      </p:sp>
      <p:sp>
        <p:nvSpPr>
          <p:cNvPr id="19" name="text-209"/>
          <p:cNvSpPr txBox="1"/>
          <p:nvPr/>
        </p:nvSpPr>
        <p:spPr>
          <a:xfrm>
            <a:off x="7543800" y="34015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open task, each with a one-sentence explanation of its rating.</a:t>
            </a:r>
            <a:endParaRPr lang="en-US" sz="1300" dirty="0"/>
          </a:p>
        </p:txBody>
      </p:sp>
      <p:sp>
        <p:nvSpPr>
          <p:cNvPr id="20" name="num-210"/>
          <p:cNvSpPr/>
          <p:nvPr/>
        </p:nvSpPr>
        <p:spPr>
          <a:xfrm>
            <a:off x="7086600" y="434340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numtext-211"/>
          <p:cNvSpPr txBox="1"/>
          <p:nvPr/>
        </p:nvSpPr>
        <p:spPr>
          <a:xfrm>
            <a:off x="7086600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-212"/>
          <p:cNvSpPr txBox="1"/>
          <p:nvPr/>
        </p:nvSpPr>
        <p:spPr>
          <a:xfrm>
            <a:off x="7543800" y="4361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</a:t>
            </a:r>
            <a:endParaRPr lang="en-US" sz="1500" dirty="0"/>
          </a:p>
        </p:txBody>
      </p:sp>
      <p:sp>
        <p:nvSpPr>
          <p:cNvPr id="23" name="text-213"/>
          <p:cNvSpPr txBox="1"/>
          <p:nvPr/>
        </p:nvSpPr>
        <p:spPr>
          <a:xfrm>
            <a:off x="7543800" y="47274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deadlines with their priority, nearest first.</a:t>
            </a:r>
            <a:endParaRPr lang="en-US" sz="1300" dirty="0"/>
          </a:p>
        </p:txBody>
      </p:sp>
      <p:sp>
        <p:nvSpPr>
          <p:cNvPr id="24" name="text-214"/>
          <p:cNvSpPr txBox="1"/>
          <p:nvPr/>
        </p:nvSpPr>
        <p:spPr>
          <a:xfrm>
            <a:off x="7086600" y="58064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data, 1.5 h per day, recorded 25 Oct 2026 from the current code.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OUTPUTS — KNOWLEDGE VAULT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reads inside files and says why each matched</a:t>
            </a:r>
            <a:endParaRPr lang="en-US" sz="2600" dirty="0"/>
          </a:p>
        </p:txBody>
      </p:sp>
      <p:sp>
        <p:nvSpPr>
          <p:cNvPr id="4" name="frame-215"/>
          <p:cNvSpPr/>
          <p:nvPr/>
        </p:nvSpPr>
        <p:spPr>
          <a:xfrm>
            <a:off x="475488" y="1527048"/>
            <a:ext cx="5541264" cy="2799998"/>
          </a:xfrm>
          <a:prstGeom prst="roundRect">
            <a:avLst>
              <a:gd name="adj" fmla="val 1959"/>
            </a:avLst>
          </a:prstGeom>
          <a:solidFill>
            <a:schemeClr val="bg2"/>
          </a:solidFill>
          <a:ln/>
        </p:spPr>
      </p:sp>
      <p:pic>
        <p:nvPicPr>
          <p:cNvPr id="5" name="screenshot-216" descr="knowledge screen of the KAIROS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2653694"/>
          </a:xfrm>
          <a:prstGeom prst="rect">
            <a:avLst/>
          </a:prstGeom>
        </p:spPr>
      </p:pic>
      <p:sp>
        <p:nvSpPr>
          <p:cNvPr id="6" name="frame-217"/>
          <p:cNvSpPr/>
          <p:nvPr/>
        </p:nvSpPr>
        <p:spPr>
          <a:xfrm>
            <a:off x="6144768" y="1527048"/>
            <a:ext cx="5541264" cy="3672422"/>
          </a:xfrm>
          <a:prstGeom prst="roundRect">
            <a:avLst>
              <a:gd name="adj" fmla="val 1494"/>
            </a:avLst>
          </a:prstGeom>
          <a:solidFill>
            <a:schemeClr val="bg2"/>
          </a:solidFill>
          <a:ln/>
        </p:spPr>
      </p:sp>
      <p:pic>
        <p:nvPicPr>
          <p:cNvPr id="7" name="screenshot-218" descr="taskdetails screen of the KAIROS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3526118"/>
          </a:xfrm>
          <a:prstGeom prst="rect">
            <a:avLst/>
          </a:prstGeom>
        </p:spPr>
      </p:pic>
      <p:sp>
        <p:nvSpPr>
          <p:cNvPr id="8" name="text-219"/>
          <p:cNvSpPr txBox="1"/>
          <p:nvPr/>
        </p:nvSpPr>
        <p:spPr>
          <a:xfrm>
            <a:off x="548640" y="4482494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Vault.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“project report” returns Project_Report_Guide.md first: 111 points from two keyword matches and the phrase in its title. The library panel lists each folder with Rescan and Remove.</a:t>
            </a:r>
            <a:endParaRPr lang="en-US" sz="1300" dirty="0"/>
          </a:p>
        </p:txBody>
      </p:sp>
      <p:sp>
        <p:nvSpPr>
          <p:cNvPr id="9" name="text-220"/>
          <p:cNvSpPr txBox="1"/>
          <p:nvPr/>
        </p:nvSpPr>
        <p:spPr>
          <a:xfrm>
            <a:off x="6217920" y="535491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details.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guide sits beside the task, with its progress and risk sentence. No search needed.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OUTPUTS — WEEK PLAN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 plan never overbooks, and shows what doesn't fit</a:t>
            </a:r>
            <a:endParaRPr lang="en-US" sz="2600" dirty="0"/>
          </a:p>
        </p:txBody>
      </p:sp>
      <p:sp>
        <p:nvSpPr>
          <p:cNvPr id="4" name="frame-221"/>
          <p:cNvSpPr/>
          <p:nvPr/>
        </p:nvSpPr>
        <p:spPr>
          <a:xfrm>
            <a:off x="5443728" y="1481328"/>
            <a:ext cx="6242304" cy="4718304"/>
          </a:xfrm>
          <a:prstGeom prst="roundRect">
            <a:avLst>
              <a:gd name="adj" fmla="val 1163"/>
            </a:avLst>
          </a:prstGeom>
          <a:solidFill>
            <a:schemeClr val="bg2"/>
          </a:solidFill>
          <a:ln/>
        </p:spPr>
      </p:sp>
      <p:pic>
        <p:nvPicPr>
          <p:cNvPr id="5" name="screenshot-222" descr="plan screen of the KAIROS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880" y="1554480"/>
            <a:ext cx="6096000" cy="4572000"/>
          </a:xfrm>
          <a:prstGeom prst="rect">
            <a:avLst/>
          </a:prstGeom>
        </p:spPr>
      </p:pic>
      <p:sp>
        <p:nvSpPr>
          <p:cNvPr id="6" name="num-223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text-224"/>
          <p:cNvSpPr txBox="1"/>
          <p:nvPr/>
        </p:nvSpPr>
        <p:spPr>
          <a:xfrm>
            <a:off x="54864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-225"/>
          <p:cNvSpPr txBox="1"/>
          <p:nvPr/>
        </p:nvSpPr>
        <p:spPr>
          <a:xfrm>
            <a:off x="1005840" y="17099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overbooked</a:t>
            </a:r>
            <a:endParaRPr lang="en-US" sz="1500" dirty="0"/>
          </a:p>
        </p:txBody>
      </p:sp>
      <p:sp>
        <p:nvSpPr>
          <p:cNvPr id="9" name="text-226"/>
          <p:cNvSpPr txBox="1"/>
          <p:nvPr/>
        </p:nvSpPr>
        <p:spPr>
          <a:xfrm>
            <a:off x="1005840" y="20756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day stays within the daily hours, and the week within its total.</a:t>
            </a:r>
            <a:endParaRPr lang="en-US" sz="1300" dirty="0"/>
          </a:p>
        </p:txBody>
      </p:sp>
      <p:sp>
        <p:nvSpPr>
          <p:cNvPr id="10" name="num-227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text-228"/>
          <p:cNvSpPr txBox="1"/>
          <p:nvPr/>
        </p:nvSpPr>
        <p:spPr>
          <a:xfrm>
            <a:off x="5486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-229"/>
          <p:cNvSpPr txBox="1"/>
          <p:nvPr/>
        </p:nvSpPr>
        <p:spPr>
          <a:xfrm>
            <a:off x="100584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deadline first</a:t>
            </a:r>
            <a:endParaRPr lang="en-US" sz="1500" dirty="0"/>
          </a:p>
        </p:txBody>
      </p:sp>
      <p:sp>
        <p:nvSpPr>
          <p:cNvPr id="13" name="text-230"/>
          <p:cNvSpPr txBox="1"/>
          <p:nvPr/>
        </p:nvSpPr>
        <p:spPr>
          <a:xfrm>
            <a:off x="1005840" y="34472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Report fills the first three days, then Lab Work begins.</a:t>
            </a:r>
            <a:endParaRPr lang="en-US" sz="1300" dirty="0"/>
          </a:p>
        </p:txBody>
      </p:sp>
      <p:sp>
        <p:nvSpPr>
          <p:cNvPr id="14" name="num-231"/>
          <p:cNvSpPr/>
          <p:nvPr/>
        </p:nvSpPr>
        <p:spPr>
          <a:xfrm>
            <a:off x="548640" y="443484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text-232"/>
          <p:cNvSpPr txBox="1"/>
          <p:nvPr/>
        </p:nvSpPr>
        <p:spPr>
          <a:xfrm>
            <a:off x="54864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-233"/>
          <p:cNvSpPr txBox="1"/>
          <p:nvPr/>
        </p:nvSpPr>
        <p:spPr>
          <a:xfrm>
            <a:off x="100584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the rest</a:t>
            </a:r>
            <a:endParaRPr lang="en-US" sz="1500" dirty="0"/>
          </a:p>
        </p:txBody>
      </p:sp>
      <p:sp>
        <p:nvSpPr>
          <p:cNvPr id="17" name="text-234"/>
          <p:cNvSpPr txBox="1"/>
          <p:nvPr/>
        </p:nvSpPr>
        <p:spPr>
          <a:xfrm>
            <a:off x="1005840" y="481888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tasks are listed as not scheduled this week, while each still shows Low risk on its own (slide 16).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OUTPUTS — FOCUS AND PROGRESS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focus session updates progress; the rest recalculates</a:t>
            </a:r>
            <a:endParaRPr lang="en-US" sz="2600" dirty="0"/>
          </a:p>
        </p:txBody>
      </p:sp>
      <p:sp>
        <p:nvSpPr>
          <p:cNvPr id="4" name="frame-235"/>
          <p:cNvSpPr/>
          <p:nvPr/>
        </p:nvSpPr>
        <p:spPr>
          <a:xfrm>
            <a:off x="475488" y="1527048"/>
            <a:ext cx="5541264" cy="3464238"/>
          </a:xfrm>
          <a:prstGeom prst="roundRect">
            <a:avLst>
              <a:gd name="adj" fmla="val 1584"/>
            </a:avLst>
          </a:prstGeom>
          <a:solidFill>
            <a:schemeClr val="bg2"/>
          </a:solidFill>
          <a:ln/>
        </p:spPr>
      </p:sp>
      <p:pic>
        <p:nvPicPr>
          <p:cNvPr id="5" name="screenshot-236" descr="focus screen of the KAIROS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3317934"/>
          </a:xfrm>
          <a:prstGeom prst="rect">
            <a:avLst/>
          </a:prstGeom>
        </p:spPr>
      </p:pic>
      <p:sp>
        <p:nvSpPr>
          <p:cNvPr id="6" name="frame-237"/>
          <p:cNvSpPr/>
          <p:nvPr/>
        </p:nvSpPr>
        <p:spPr>
          <a:xfrm>
            <a:off x="6144768" y="1527048"/>
            <a:ext cx="5541264" cy="2736299"/>
          </a:xfrm>
          <a:prstGeom prst="roundRect">
            <a:avLst>
              <a:gd name="adj" fmla="val 2005"/>
            </a:avLst>
          </a:prstGeom>
          <a:solidFill>
            <a:schemeClr val="bg2"/>
          </a:solidFill>
          <a:ln/>
        </p:spPr>
      </p:sp>
      <p:pic>
        <p:nvPicPr>
          <p:cNvPr id="7" name="screenshot-238" descr="progress screen of the KAIROS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394960" cy="2589995"/>
          </a:xfrm>
          <a:prstGeom prst="rect">
            <a:avLst/>
          </a:prstGeom>
        </p:spPr>
      </p:pic>
      <p:sp>
        <p:nvSpPr>
          <p:cNvPr id="8" name="text-239"/>
          <p:cNvSpPr txBox="1"/>
          <p:nvPr/>
        </p:nvSpPr>
        <p:spPr>
          <a:xfrm>
            <a:off x="548640" y="514673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Focus.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session at a time: pause, resume, then finish with a progress value or let KAIROS estimate it from the time spent.</a:t>
            </a:r>
            <a:endParaRPr lang="en-US" sz="1300" dirty="0"/>
          </a:p>
        </p:txBody>
      </p:sp>
      <p:sp>
        <p:nvSpPr>
          <p:cNvPr id="9" name="text-240"/>
          <p:cNvSpPr txBox="1"/>
          <p:nvPr/>
        </p:nvSpPr>
        <p:spPr>
          <a:xfrm>
            <a:off x="6217920" y="4418795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Progress. </a:t>
            </a:r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one session at 40%, Project Report shows 3 h left and overall progress is 6.9%, weighted by effort. Risk and the plan update from the same numbers.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PERSISTENCE &amp; RELIABILITY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is lost on restart</a:t>
            </a:r>
            <a:endParaRPr lang="en-US" sz="2600" dirty="0"/>
          </a:p>
        </p:txBody>
      </p:sp>
      <p:sp>
        <p:nvSpPr>
          <p:cNvPr id="4" name="card-241"/>
          <p:cNvSpPr/>
          <p:nvPr/>
        </p:nvSpPr>
        <p:spPr>
          <a:xfrm>
            <a:off x="548640" y="1554480"/>
            <a:ext cx="576072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5" name="text-242"/>
          <p:cNvSpPr txBox="1"/>
          <p:nvPr/>
        </p:nvSpPr>
        <p:spPr>
          <a:xfrm>
            <a:off x="77724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saved</a:t>
            </a:r>
            <a:endParaRPr lang="en-US" sz="1400" dirty="0"/>
          </a:p>
        </p:txBody>
      </p:sp>
      <p:sp>
        <p:nvSpPr>
          <p:cNvPr id="6" name="text-243"/>
          <p:cNvSpPr txBox="1"/>
          <p:nvPr/>
        </p:nvSpPr>
        <p:spPr>
          <a:xfrm>
            <a:off x="2240280" y="16642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and progress, focus sessions, daily hours, library folders and the file index.</a:t>
            </a:r>
            <a:endParaRPr lang="en-US" sz="1300" dirty="0"/>
          </a:p>
        </p:txBody>
      </p:sp>
      <p:sp>
        <p:nvSpPr>
          <p:cNvPr id="7" name="card-244"/>
          <p:cNvSpPr/>
          <p:nvPr/>
        </p:nvSpPr>
        <p:spPr>
          <a:xfrm>
            <a:off x="548640" y="2578608"/>
            <a:ext cx="576072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8" name="text-245"/>
          <p:cNvSpPr txBox="1"/>
          <p:nvPr/>
        </p:nvSpPr>
        <p:spPr>
          <a:xfrm>
            <a:off x="777240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400" dirty="0"/>
          </a:p>
        </p:txBody>
      </p:sp>
      <p:sp>
        <p:nvSpPr>
          <p:cNvPr id="9" name="text-246"/>
          <p:cNvSpPr txBox="1"/>
          <p:nvPr/>
        </p:nvSpPr>
        <p:spPr>
          <a:xfrm>
            <a:off x="2240280" y="26883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successful change, while the app runs, plus a final save on shutdown.</a:t>
            </a:r>
            <a:endParaRPr lang="en-US" sz="1300" dirty="0"/>
          </a:p>
        </p:txBody>
      </p:sp>
      <p:sp>
        <p:nvSpPr>
          <p:cNvPr id="10" name="card-247"/>
          <p:cNvSpPr/>
          <p:nvPr/>
        </p:nvSpPr>
        <p:spPr>
          <a:xfrm>
            <a:off x="548640" y="3602736"/>
            <a:ext cx="576072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11" name="text-248"/>
          <p:cNvSpPr txBox="1"/>
          <p:nvPr/>
        </p:nvSpPr>
        <p:spPr>
          <a:xfrm>
            <a:off x="777240" y="3712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400" dirty="0"/>
          </a:p>
        </p:txBody>
      </p:sp>
      <p:sp>
        <p:nvSpPr>
          <p:cNvPr id="12" name="text-249"/>
          <p:cNvSpPr txBox="1"/>
          <p:nvPr/>
        </p:nvSpPr>
        <p:spPr>
          <a:xfrm>
            <a:off x="2240280" y="371246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state goes to a temporary file that atomically replaces the last snapshot. An abrupt stop loses at most the change in flight.</a:t>
            </a:r>
            <a:endParaRPr lang="en-US" sz="1300" dirty="0"/>
          </a:p>
        </p:txBody>
      </p:sp>
      <p:sp>
        <p:nvSpPr>
          <p:cNvPr id="13" name="card-250"/>
          <p:cNvSpPr/>
          <p:nvPr/>
        </p:nvSpPr>
        <p:spPr>
          <a:xfrm>
            <a:off x="548640" y="4626864"/>
            <a:ext cx="576072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14" name="text-251"/>
          <p:cNvSpPr txBox="1"/>
          <p:nvPr/>
        </p:nvSpPr>
        <p:spPr>
          <a:xfrm>
            <a:off x="777240" y="4736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</a:t>
            </a:r>
            <a:endParaRPr lang="en-US" sz="1400" dirty="0"/>
          </a:p>
        </p:txBody>
      </p:sp>
      <p:sp>
        <p:nvSpPr>
          <p:cNvPr id="15" name="text-252"/>
          <p:cNvSpPr txBox="1"/>
          <p:nvPr/>
        </p:nvSpPr>
        <p:spPr>
          <a:xfrm>
            <a:off x="2240280" y="47365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start, the file is checked in full before it replaces anything in memory.</a:t>
            </a:r>
            <a:endParaRPr lang="en-US" sz="1300" dirty="0"/>
          </a:p>
        </p:txBody>
      </p:sp>
      <p:sp>
        <p:nvSpPr>
          <p:cNvPr id="16" name="frame-253"/>
          <p:cNvSpPr/>
          <p:nvPr/>
        </p:nvSpPr>
        <p:spPr>
          <a:xfrm>
            <a:off x="6510528" y="1618488"/>
            <a:ext cx="5175504" cy="1099707"/>
          </a:xfrm>
          <a:prstGeom prst="roundRect">
            <a:avLst>
              <a:gd name="adj" fmla="val 4989"/>
            </a:avLst>
          </a:prstGeom>
          <a:solidFill>
            <a:schemeClr val="bg1"/>
          </a:solidFill>
          <a:ln/>
        </p:spPr>
      </p:sp>
      <p:pic>
        <p:nvPicPr>
          <p:cNvPr id="17" name="screenshot-254" descr="saving screen of the KAIROS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91640"/>
            <a:ext cx="5029200" cy="953403"/>
          </a:xfrm>
          <a:prstGeom prst="rect">
            <a:avLst/>
          </a:prstGeom>
        </p:spPr>
      </p:pic>
      <p:sp>
        <p:nvSpPr>
          <p:cNvPr id="18" name="text-255"/>
          <p:cNvSpPr txBox="1"/>
          <p:nvPr/>
        </p:nvSpPr>
        <p:spPr>
          <a:xfrm>
            <a:off x="6583680" y="2827923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Saving shows the file, the last save time, and any save error.</a:t>
            </a:r>
            <a:endParaRPr lang="en-US" sz="1300" dirty="0"/>
          </a:p>
        </p:txBody>
      </p:sp>
      <p:sp>
        <p:nvSpPr>
          <p:cNvPr id="19" name="card-256"/>
          <p:cNvSpPr/>
          <p:nvPr/>
        </p:nvSpPr>
        <p:spPr>
          <a:xfrm>
            <a:off x="6492240" y="3429000"/>
            <a:ext cx="5120640" cy="2331720"/>
          </a:xfrm>
          <a:prstGeom prst="roundRect">
            <a:avLst>
              <a:gd name="adj" fmla="val 3137"/>
            </a:avLst>
          </a:prstGeom>
          <a:solidFill>
            <a:schemeClr val="accent6"/>
          </a:solidFill>
          <a:ln/>
        </p:spPr>
      </p:sp>
      <p:sp>
        <p:nvSpPr>
          <p:cNvPr id="20" name="text-257"/>
          <p:cNvSpPr txBox="1"/>
          <p:nvPr/>
        </p:nvSpPr>
        <p:spPr>
          <a:xfrm>
            <a:off x="67665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</a:t>
            </a:r>
            <a:endParaRPr lang="en-US" sz="1200" dirty="0"/>
          </a:p>
        </p:txBody>
      </p:sp>
      <p:sp>
        <p:nvSpPr>
          <p:cNvPr id="21" name="text-258"/>
          <p:cNvSpPr txBox="1"/>
          <p:nvPr/>
        </p:nvSpPr>
        <p:spPr>
          <a:xfrm>
            <a:off x="6766560" y="397764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database: one JSON file, one process, one user.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change rewrites the file: about 30 ms with 3,000 files on the test machine.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Tested: a restart from the file as it stood mid-session restores the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TESTING &amp; VALIDATION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result here is reproducible from the current code</a:t>
            </a:r>
            <a:endParaRPr lang="en-US" sz="2600" dirty="0"/>
          </a:p>
        </p:txBody>
      </p:sp>
      <p:sp>
        <p:nvSpPr>
          <p:cNvPr id="4" name="card-259"/>
          <p:cNvSpPr/>
          <p:nvPr/>
        </p:nvSpPr>
        <p:spPr>
          <a:xfrm>
            <a:off x="548640" y="1554480"/>
            <a:ext cx="3529584" cy="1325880"/>
          </a:xfrm>
          <a:prstGeom prst="roundRect">
            <a:avLst>
              <a:gd name="adj" fmla="val 5517"/>
            </a:avLst>
          </a:prstGeom>
          <a:solidFill>
            <a:schemeClr val="accent6"/>
          </a:solidFill>
          <a:ln/>
        </p:spPr>
      </p:sp>
      <p:sp>
        <p:nvSpPr>
          <p:cNvPr id="5" name="text-260"/>
          <p:cNvSpPr txBox="1"/>
          <p:nvPr/>
        </p:nvSpPr>
        <p:spPr>
          <a:xfrm>
            <a:off x="822960" y="1645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</a:t>
            </a:r>
            <a:endParaRPr lang="en-US" sz="4000" dirty="0"/>
          </a:p>
        </p:txBody>
      </p:sp>
      <p:sp>
        <p:nvSpPr>
          <p:cNvPr id="6" name="text-261"/>
          <p:cNvSpPr txBox="1"/>
          <p:nvPr/>
        </p:nvSpPr>
        <p:spPr>
          <a:xfrm>
            <a:off x="8229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 passed, 0 failed</a:t>
            </a:r>
            <a:endParaRPr lang="en-US" sz="1300" dirty="0"/>
          </a:p>
        </p:txBody>
      </p:sp>
      <p:sp>
        <p:nvSpPr>
          <p:cNvPr id="7" name="card-262"/>
          <p:cNvSpPr/>
          <p:nvPr/>
        </p:nvSpPr>
        <p:spPr>
          <a:xfrm>
            <a:off x="4329684" y="1554480"/>
            <a:ext cx="3529584" cy="1325880"/>
          </a:xfrm>
          <a:prstGeom prst="roundRect">
            <a:avLst>
              <a:gd name="adj" fmla="val 5517"/>
            </a:avLst>
          </a:prstGeom>
          <a:solidFill>
            <a:schemeClr val="accent6"/>
          </a:solidFill>
          <a:ln/>
        </p:spPr>
      </p:sp>
      <p:sp>
        <p:nvSpPr>
          <p:cNvPr id="8" name="text-263"/>
          <p:cNvSpPr txBox="1"/>
          <p:nvPr/>
        </p:nvSpPr>
        <p:spPr>
          <a:xfrm>
            <a:off x="4604004" y="1645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14</a:t>
            </a:r>
            <a:endParaRPr lang="en-US" sz="4000" dirty="0"/>
          </a:p>
        </p:txBody>
      </p:sp>
      <p:sp>
        <p:nvSpPr>
          <p:cNvPr id="9" name="text-264"/>
          <p:cNvSpPr txBox="1"/>
          <p:nvPr/>
        </p:nvSpPr>
        <p:spPr>
          <a:xfrm>
            <a:off x="4604004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walk-through steps passed</a:t>
            </a:r>
            <a:endParaRPr lang="en-US" sz="1300" dirty="0"/>
          </a:p>
        </p:txBody>
      </p:sp>
      <p:sp>
        <p:nvSpPr>
          <p:cNvPr id="10" name="card-265"/>
          <p:cNvSpPr/>
          <p:nvPr/>
        </p:nvSpPr>
        <p:spPr>
          <a:xfrm>
            <a:off x="8110728" y="1554480"/>
            <a:ext cx="3529584" cy="1325880"/>
          </a:xfrm>
          <a:prstGeom prst="roundRect">
            <a:avLst>
              <a:gd name="adj" fmla="val 5517"/>
            </a:avLst>
          </a:prstGeom>
          <a:solidFill>
            <a:schemeClr val="accent6"/>
          </a:solidFill>
          <a:ln/>
        </p:spPr>
      </p:sp>
      <p:sp>
        <p:nvSpPr>
          <p:cNvPr id="11" name="text-266"/>
          <p:cNvSpPr txBox="1"/>
          <p:nvPr/>
        </p:nvSpPr>
        <p:spPr>
          <a:xfrm>
            <a:off x="8385048" y="1645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Passed</a:t>
            </a:r>
            <a:endParaRPr lang="en-US" sz="4000" dirty="0"/>
          </a:p>
        </p:txBody>
      </p:sp>
      <p:sp>
        <p:nvSpPr>
          <p:cNvPr id="12" name="text-267"/>
          <p:cNvSpPr txBox="1"/>
          <p:nvPr/>
        </p:nvSpPr>
        <p:spPr>
          <a:xfrm>
            <a:off x="8385048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type-check, on the laptop</a:t>
            </a:r>
            <a:endParaRPr lang="en-US" sz="1300" dirty="0"/>
          </a:p>
        </p:txBody>
      </p:sp>
      <p:graphicFrame>
        <p:nvGraphicFramePr>
          <p:cNvPr id="13" name="tests-chart" descr=""/>
          <p:cNvGraphicFramePr/>
          <p:nvPr/>
        </p:nvGraphicFramePr>
        <p:xfrm>
          <a:off x="548640" y="3108960"/>
          <a:ext cx="69494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card-268"/>
          <p:cNvSpPr/>
          <p:nvPr/>
        </p:nvSpPr>
        <p:spPr>
          <a:xfrm>
            <a:off x="7772400" y="3108960"/>
            <a:ext cx="3840480" cy="3063240"/>
          </a:xfrm>
          <a:prstGeom prst="roundRect">
            <a:avLst>
              <a:gd name="adj" fmla="val 2388"/>
            </a:avLst>
          </a:prstGeom>
          <a:solidFill>
            <a:schemeClr val="accent6"/>
          </a:solidFill>
          <a:ln/>
        </p:spPr>
      </p:sp>
      <p:sp>
        <p:nvSpPr>
          <p:cNvPr id="15" name="text-269"/>
          <p:cNvSpPr txBox="1"/>
          <p:nvPr/>
        </p:nvSpPr>
        <p:spPr>
          <a:xfrm>
            <a:off x="804672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</a:t>
            </a:r>
            <a:endParaRPr lang="en-US" sz="1200" dirty="0"/>
          </a:p>
        </p:txBody>
      </p:sp>
      <p:sp>
        <p:nvSpPr>
          <p:cNvPr id="16" name="text-270"/>
          <p:cNvSpPr txBox="1"/>
          <p:nvPr/>
        </p:nvSpPr>
        <p:spPr>
          <a:xfrm>
            <a:off x="8046720" y="3657600"/>
            <a:ext cx="3337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ran on Linux, CPython 3.13, with the project's library versions. Re-run on the laptop, with npm run build, before the review.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on the test machine: 1,500 files indexed in 1.2–1.4 s; main screens' data in 3–10 ms.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study with students yet.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IMPLEMENTATION STATUS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capabilities verified, four partial</a:t>
            </a:r>
            <a:endParaRPr lang="en-US" sz="2600" dirty="0"/>
          </a:p>
        </p:txBody>
      </p:sp>
      <p:sp>
        <p:nvSpPr>
          <p:cNvPr id="4" name="colhead-271"/>
          <p:cNvSpPr/>
          <p:nvPr/>
        </p:nvSpPr>
        <p:spPr>
          <a:xfrm>
            <a:off x="548640" y="1554480"/>
            <a:ext cx="4206240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-272"/>
          <p:cNvSpPr txBox="1"/>
          <p:nvPr/>
        </p:nvSpPr>
        <p:spPr>
          <a:xfrm>
            <a:off x="54864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300" dirty="0"/>
          </a:p>
        </p:txBody>
      </p:sp>
      <p:sp>
        <p:nvSpPr>
          <p:cNvPr id="6" name="colbody-273"/>
          <p:cNvSpPr/>
          <p:nvPr/>
        </p:nvSpPr>
        <p:spPr>
          <a:xfrm>
            <a:off x="548640" y="2011680"/>
            <a:ext cx="4206240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-274"/>
          <p:cNvSpPr txBox="1"/>
          <p:nvPr/>
        </p:nvSpPr>
        <p:spPr>
          <a:xfrm>
            <a:off x="731520" y="219456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 risk with explanation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library: add, rescan, remove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inside files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search with reasons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details with relevant files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plan within available hours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sessions and progress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and restore</a:t>
            </a:r>
            <a:endParaRPr lang="en-US" sz="1300" dirty="0"/>
          </a:p>
        </p:txBody>
      </p:sp>
      <p:sp>
        <p:nvSpPr>
          <p:cNvPr id="8" name="colhead-275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-276"/>
          <p:cNvSpPr txBox="1"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300" dirty="0"/>
          </a:p>
        </p:txBody>
      </p:sp>
      <p:sp>
        <p:nvSpPr>
          <p:cNvPr id="10" name="colbody-277"/>
          <p:cNvSpPr/>
          <p:nvPr/>
        </p:nvSpPr>
        <p:spPr>
          <a:xfrm>
            <a:off x="4937760" y="2011680"/>
            <a:ext cx="3657600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-278"/>
          <p:cNvSpPr txBox="1"/>
          <p:nvPr/>
        </p:nvSpPr>
        <p:spPr>
          <a:xfrm>
            <a:off x="5120640" y="219456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suggestions: opt-in; live call not exercised in this review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Reminders: on the dashboard only, no notifications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Weak-area planning: backend only, self-rated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risk: per task, not combined</a:t>
            </a:r>
            <a:endParaRPr lang="en-US" sz="1300" dirty="0"/>
          </a:p>
        </p:txBody>
      </p:sp>
      <p:sp>
        <p:nvSpPr>
          <p:cNvPr id="12" name="colhead-279"/>
          <p:cNvSpPr/>
          <p:nvPr/>
        </p:nvSpPr>
        <p:spPr>
          <a:xfrm>
            <a:off x="8778240" y="1554480"/>
            <a:ext cx="2834640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text-280"/>
          <p:cNvSpPr txBox="1"/>
          <p:nvPr/>
        </p:nvSpPr>
        <p:spPr>
          <a:xfrm>
            <a:off x="877824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IMPLEMENTED</a:t>
            </a:r>
            <a:endParaRPr lang="en-US" sz="1300" dirty="0"/>
          </a:p>
        </p:txBody>
      </p:sp>
      <p:sp>
        <p:nvSpPr>
          <p:cNvPr id="14" name="colbody-281"/>
          <p:cNvSpPr/>
          <p:nvPr/>
        </p:nvSpPr>
        <p:spPr>
          <a:xfrm>
            <a:off x="8778240" y="2011680"/>
            <a:ext cx="2834640" cy="36576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-282"/>
          <p:cNvSpPr txBox="1"/>
          <p:nvPr/>
        </p:nvSpPr>
        <p:spPr>
          <a:xfrm>
            <a:off x="8961120" y="219456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connection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and multiple users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storage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small fixes matter most before real use</a:t>
            </a:r>
            <a:endParaRPr lang="en-US" sz="2600" dirty="0"/>
          </a:p>
        </p:txBody>
      </p:sp>
      <p:sp>
        <p:nvSpPr>
          <p:cNvPr id="4" name="card-283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accent6"/>
          </a:solidFill>
          <a:ln/>
        </p:spPr>
      </p:sp>
      <p:sp>
        <p:nvSpPr>
          <p:cNvPr id="5" name="text-284"/>
          <p:cNvSpPr txBox="1"/>
          <p:nvPr/>
        </p:nvSpPr>
        <p:spPr>
          <a:xfrm>
            <a:off x="822960" y="16642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data at 1.5 h a day: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h is due by 6 Nov against 19.5 h available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yet every task shows Low risk, because each is rated against its own deadline alone.</a:t>
            </a:r>
            <a:endParaRPr lang="en-US" sz="1400" dirty="0"/>
          </a:p>
        </p:txBody>
      </p:sp>
      <p:sp>
        <p:nvSpPr>
          <p:cNvPr id="6" name="text-285"/>
          <p:cNvSpPr txBox="1"/>
          <p:nvPr/>
        </p:nvSpPr>
        <p:spPr>
          <a:xfrm>
            <a:off x="548640" y="2560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REVIEW</a:t>
            </a:r>
            <a:endParaRPr lang="en-US" sz="1200" dirty="0"/>
          </a:p>
        </p:txBody>
      </p:sp>
      <p:sp>
        <p:nvSpPr>
          <p:cNvPr id="7" name="card-286"/>
          <p:cNvSpPr/>
          <p:nvPr/>
        </p:nvSpPr>
        <p:spPr>
          <a:xfrm>
            <a:off x="548640" y="2926080"/>
            <a:ext cx="539496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8" name="num-287"/>
          <p:cNvSpPr/>
          <p:nvPr/>
        </p:nvSpPr>
        <p:spPr>
          <a:xfrm>
            <a:off x="749808" y="32004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numtext-288"/>
          <p:cNvSpPr txBox="1"/>
          <p:nvPr/>
        </p:nvSpPr>
        <p:spPr>
          <a:xfrm>
            <a:off x="749808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-289"/>
          <p:cNvSpPr txBox="1"/>
          <p:nvPr/>
        </p:nvSpPr>
        <p:spPr>
          <a:xfrm>
            <a:off x="123444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risk on combined workload</a:t>
            </a:r>
            <a:endParaRPr lang="en-US" sz="1400" dirty="0"/>
          </a:p>
        </p:txBody>
      </p:sp>
      <p:sp>
        <p:nvSpPr>
          <p:cNvPr id="11" name="text-290"/>
          <p:cNvSpPr txBox="1"/>
          <p:nvPr/>
        </p:nvSpPr>
        <p:spPr>
          <a:xfrm>
            <a:off x="1234440" y="33467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 due by each deadline vs hours to it. Small effort.</a:t>
            </a:r>
            <a:endParaRPr lang="en-US" sz="1200" dirty="0"/>
          </a:p>
        </p:txBody>
      </p:sp>
      <p:sp>
        <p:nvSpPr>
          <p:cNvPr id="12" name="card-291"/>
          <p:cNvSpPr/>
          <p:nvPr/>
        </p:nvSpPr>
        <p:spPr>
          <a:xfrm>
            <a:off x="548640" y="3950208"/>
            <a:ext cx="539496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13" name="num-292"/>
          <p:cNvSpPr/>
          <p:nvPr/>
        </p:nvSpPr>
        <p:spPr>
          <a:xfrm>
            <a:off x="749808" y="4224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numtext-293"/>
          <p:cNvSpPr txBox="1"/>
          <p:nvPr/>
        </p:nvSpPr>
        <p:spPr>
          <a:xfrm>
            <a:off x="749808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-294"/>
          <p:cNvSpPr txBox="1"/>
          <p:nvPr/>
        </p:nvSpPr>
        <p:spPr>
          <a:xfrm>
            <a:off x="1234440" y="4059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 urgency every day</a:t>
            </a:r>
            <a:endParaRPr lang="en-US" sz="1400" dirty="0"/>
          </a:p>
        </p:txBody>
      </p:sp>
      <p:sp>
        <p:nvSpPr>
          <p:cNvPr id="16" name="text-295"/>
          <p:cNvSpPr txBox="1"/>
          <p:nvPr/>
        </p:nvSpPr>
        <p:spPr>
          <a:xfrm>
            <a:off x="1234440" y="43708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it updates only when a task changes. Small effort.</a:t>
            </a:r>
            <a:endParaRPr lang="en-US" sz="1200" dirty="0"/>
          </a:p>
        </p:txBody>
      </p:sp>
      <p:sp>
        <p:nvSpPr>
          <p:cNvPr id="17" name="card-296"/>
          <p:cNvSpPr/>
          <p:nvPr/>
        </p:nvSpPr>
        <p:spPr>
          <a:xfrm>
            <a:off x="548640" y="4974336"/>
            <a:ext cx="5394960" cy="896112"/>
          </a:xfrm>
          <a:prstGeom prst="roundRect">
            <a:avLst>
              <a:gd name="adj" fmla="val 8163"/>
            </a:avLst>
          </a:prstGeom>
          <a:solidFill>
            <a:schemeClr val="accent6"/>
          </a:solidFill>
          <a:ln/>
        </p:spPr>
      </p:sp>
      <p:sp>
        <p:nvSpPr>
          <p:cNvPr id="18" name="num-297"/>
          <p:cNvSpPr/>
          <p:nvPr/>
        </p:nvSpPr>
        <p:spPr>
          <a:xfrm>
            <a:off x="749808" y="52486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numtext-298"/>
          <p:cNvSpPr txBox="1"/>
          <p:nvPr/>
        </p:nvSpPr>
        <p:spPr>
          <a:xfrm>
            <a:off x="749808" y="5248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-299"/>
          <p:cNvSpPr txBox="1"/>
          <p:nvPr/>
        </p:nvSpPr>
        <p:spPr>
          <a:xfrm>
            <a:off x="1234440" y="5084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full points breakdown</a:t>
            </a:r>
            <a:endParaRPr lang="en-US" sz="1400" dirty="0"/>
          </a:p>
        </p:txBody>
      </p:sp>
      <p:sp>
        <p:nvSpPr>
          <p:cNvPr id="21" name="text-300"/>
          <p:cNvSpPr txBox="1"/>
          <p:nvPr/>
        </p:nvSpPr>
        <p:spPr>
          <a:xfrm>
            <a:off x="1234440" y="5394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list three reasons, so points may not add up. Small effort.</a:t>
            </a:r>
            <a:endParaRPr lang="en-US" sz="1200" dirty="0"/>
          </a:p>
        </p:txBody>
      </p:sp>
      <p:sp>
        <p:nvSpPr>
          <p:cNvPr id="22" name="text-301"/>
          <p:cNvSpPr txBox="1"/>
          <p:nvPr/>
        </p:nvSpPr>
        <p:spPr>
          <a:xfrm>
            <a:off x="6217920" y="2560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3" name="card-302"/>
          <p:cNvSpPr/>
          <p:nvPr/>
        </p:nvSpPr>
        <p:spPr>
          <a:xfrm>
            <a:off x="6217920" y="2926080"/>
            <a:ext cx="5394960" cy="2944368"/>
          </a:xfrm>
          <a:prstGeom prst="roundRect">
            <a:avLst>
              <a:gd name="adj" fmla="val 2484"/>
            </a:avLst>
          </a:prstGeom>
          <a:solidFill>
            <a:schemeClr val="accent6"/>
          </a:solidFill>
          <a:ln/>
        </p:spPr>
      </p:sp>
      <p:sp>
        <p:nvSpPr>
          <p:cNvPr id="24" name="text-303"/>
          <p:cNvSpPr txBox="1"/>
          <p:nvPr/>
        </p:nvSpPr>
        <p:spPr>
          <a:xfrm>
            <a:off x="6446520" y="3090672"/>
            <a:ext cx="4983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quizzes to measure understanding, replacing self-rating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storage with transactions for larger libraries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Per-day availability or calendar import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for scanned PDFs, more formats, a folder picker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Weak-area plan and a reminder list in the interface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multiple users, only if hosted beyond one computer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REAL-WORLD EXAMPLE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submissions, four days apart, 1.5 hours a day</a:t>
            </a:r>
            <a:endParaRPr lang="en-US" sz="2600" dirty="0"/>
          </a:p>
        </p:txBody>
      </p:sp>
      <p:graphicFrame>
        <p:nvGraphicFramePr>
          <p:cNvPr id="18" name="scenario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Report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30 Oct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 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1 Nov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Assignment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 2 Nov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304"/>
          <p:cNvSpPr txBox="1"/>
          <p:nvPr/>
        </p:nvSpPr>
        <p:spPr>
          <a:xfrm>
            <a:off x="548640" y="3749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High priority. Notes in one project folder. Run on 25 Oct 2026 with the example data.</a:t>
            </a:r>
            <a:endParaRPr lang="en-US" sz="1200" dirty="0"/>
          </a:p>
        </p:txBody>
      </p:sp>
      <p:sp>
        <p:nvSpPr>
          <p:cNvPr id="6" name="card-305"/>
          <p:cNvSpPr/>
          <p:nvPr/>
        </p:nvSpPr>
        <p:spPr>
          <a:xfrm>
            <a:off x="548640" y="4480560"/>
            <a:ext cx="493776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7" name="text-306"/>
          <p:cNvSpPr txBox="1"/>
          <p:nvPr/>
        </p:nvSpPr>
        <p:spPr>
          <a:xfrm>
            <a:off x="77724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BENEFITS — NOT MEASURED</a:t>
            </a:r>
            <a:endParaRPr lang="en-US" sz="1100" dirty="0"/>
          </a:p>
        </p:txBody>
      </p:sp>
      <p:sp>
        <p:nvSpPr>
          <p:cNvPr id="8" name="text-307"/>
          <p:cNvSpPr txBox="1"/>
          <p:nvPr/>
        </p:nvSpPr>
        <p:spPr>
          <a:xfrm>
            <a:off x="777240" y="49834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early which work will not fit, spend less time hunting for files, and replan from real progress instead of a stale timetable.</a:t>
            </a:r>
            <a:endParaRPr lang="en-US" sz="1300" dirty="0"/>
          </a:p>
        </p:txBody>
      </p:sp>
      <p:sp>
        <p:nvSpPr>
          <p:cNvPr id="9" name="text-308"/>
          <p:cNvSpPr txBox="1"/>
          <p:nvPr/>
        </p:nvSpPr>
        <p:spPr>
          <a:xfrm>
            <a:off x="58978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KAIROS SHOWED</a:t>
            </a:r>
            <a:endParaRPr lang="en-US" sz="1200" dirty="0"/>
          </a:p>
        </p:txBody>
      </p:sp>
      <p:sp>
        <p:nvSpPr>
          <p:cNvPr id="10" name="num-309"/>
          <p:cNvSpPr/>
          <p:nvPr/>
        </p:nvSpPr>
        <p:spPr>
          <a:xfrm>
            <a:off x="5897880" y="2011680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text-310"/>
          <p:cNvSpPr txBox="1"/>
          <p:nvPr/>
        </p:nvSpPr>
        <p:spPr>
          <a:xfrm>
            <a:off x="589788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-311"/>
          <p:cNvSpPr txBox="1"/>
          <p:nvPr/>
        </p:nvSpPr>
        <p:spPr>
          <a:xfrm>
            <a:off x="6355080" y="20299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1400" dirty="0"/>
          </a:p>
        </p:txBody>
      </p:sp>
      <p:sp>
        <p:nvSpPr>
          <p:cNvPr id="13" name="text-312"/>
          <p:cNvSpPr txBox="1"/>
          <p:nvPr/>
        </p:nvSpPr>
        <p:spPr>
          <a:xfrm>
            <a:off x="6355080" y="235915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Report, 90 min: “about 5 h remain, with 9 h available before the deadline.”</a:t>
            </a:r>
            <a:endParaRPr lang="en-US" sz="1300" dirty="0"/>
          </a:p>
        </p:txBody>
      </p:sp>
      <p:sp>
        <p:nvSpPr>
          <p:cNvPr id="14" name="num-313"/>
          <p:cNvSpPr/>
          <p:nvPr/>
        </p:nvSpPr>
        <p:spPr>
          <a:xfrm>
            <a:off x="5897880" y="303580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numtext-314"/>
          <p:cNvSpPr txBox="1"/>
          <p:nvPr/>
        </p:nvSpPr>
        <p:spPr>
          <a:xfrm>
            <a:off x="589788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-315"/>
          <p:cNvSpPr txBox="1"/>
          <p:nvPr/>
        </p:nvSpPr>
        <p:spPr>
          <a:xfrm>
            <a:off x="6355080" y="30540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400" dirty="0"/>
          </a:p>
        </p:txBody>
      </p:sp>
      <p:sp>
        <p:nvSpPr>
          <p:cNvPr id="17" name="text-316"/>
          <p:cNvSpPr txBox="1"/>
          <p:nvPr/>
        </p:nvSpPr>
        <p:spPr>
          <a:xfrm>
            <a:off x="6355080" y="338328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“project report” finds Project_Report_Guide.md first, 111 points; it also tops the task's details page.</a:t>
            </a:r>
            <a:endParaRPr lang="en-US" sz="1300" dirty="0"/>
          </a:p>
        </p:txBody>
      </p:sp>
      <p:sp>
        <p:nvSpPr>
          <p:cNvPr id="18" name="num-317"/>
          <p:cNvSpPr/>
          <p:nvPr/>
        </p:nvSpPr>
        <p:spPr>
          <a:xfrm>
            <a:off x="5897880" y="4059936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numtext-318"/>
          <p:cNvSpPr txBox="1"/>
          <p:nvPr/>
        </p:nvSpPr>
        <p:spPr>
          <a:xfrm>
            <a:off x="5897880" y="4059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-319"/>
          <p:cNvSpPr txBox="1"/>
          <p:nvPr/>
        </p:nvSpPr>
        <p:spPr>
          <a:xfrm>
            <a:off x="6355080" y="40782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text-320"/>
          <p:cNvSpPr txBox="1"/>
          <p:nvPr/>
        </p:nvSpPr>
        <p:spPr>
          <a:xfrm>
            <a:off x="6355080" y="440740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three days go to the Project Report at 1.5 h each; Lab Work starts on day four.</a:t>
            </a:r>
            <a:endParaRPr lang="en-US" sz="1300" dirty="0"/>
          </a:p>
        </p:txBody>
      </p:sp>
      <p:sp>
        <p:nvSpPr>
          <p:cNvPr id="22" name="num-321"/>
          <p:cNvSpPr/>
          <p:nvPr/>
        </p:nvSpPr>
        <p:spPr>
          <a:xfrm>
            <a:off x="5897880" y="5084064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numtext-322"/>
          <p:cNvSpPr txBox="1"/>
          <p:nvPr/>
        </p:nvSpPr>
        <p:spPr>
          <a:xfrm>
            <a:off x="589788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-323"/>
          <p:cNvSpPr txBox="1"/>
          <p:nvPr/>
        </p:nvSpPr>
        <p:spPr>
          <a:xfrm>
            <a:off x="6355080" y="51023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one session</a:t>
            </a:r>
            <a:endParaRPr lang="en-US" sz="1400" dirty="0"/>
          </a:p>
        </p:txBody>
      </p:sp>
      <p:sp>
        <p:nvSpPr>
          <p:cNvPr id="25" name="text-324"/>
          <p:cNvSpPr txBox="1"/>
          <p:nvPr/>
        </p:nvSpPr>
        <p:spPr>
          <a:xfrm>
            <a:off x="6355080" y="543153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done: 3 h left, the explanation updates, overall progress 6.9%. Still there after a restart.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CONCLUSION &amp; EVALUATION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single-student workflow, honestly evidenced</a:t>
            </a:r>
            <a:endParaRPr lang="en-US" sz="2600" dirty="0"/>
          </a:p>
        </p:txBody>
      </p:sp>
      <p:sp>
        <p:nvSpPr>
          <p:cNvPr id="4" name="card-325"/>
          <p:cNvSpPr/>
          <p:nvPr/>
        </p:nvSpPr>
        <p:spPr>
          <a:xfrm>
            <a:off x="548640" y="15544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5" name="text-326"/>
          <p:cNvSpPr txBox="1"/>
          <p:nvPr/>
        </p:nvSpPr>
        <p:spPr>
          <a:xfrm>
            <a:off x="749808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relevance</a:t>
            </a:r>
            <a:endParaRPr lang="en-US" sz="1300" dirty="0"/>
          </a:p>
        </p:txBody>
      </p:sp>
      <p:sp>
        <p:nvSpPr>
          <p:cNvPr id="6" name="text-327"/>
          <p:cNvSpPr txBox="1"/>
          <p:nvPr/>
        </p:nvSpPr>
        <p:spPr>
          <a:xfrm>
            <a:off x="749808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2200" dirty="0"/>
          </a:p>
        </p:txBody>
      </p:sp>
      <p:sp>
        <p:nvSpPr>
          <p:cNvPr id="7" name="text-328"/>
          <p:cNvSpPr txBox="1"/>
          <p:nvPr/>
        </p:nvSpPr>
        <p:spPr>
          <a:xfrm>
            <a:off x="749808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student problems</a:t>
            </a:r>
            <a:endParaRPr lang="en-US" sz="1100" dirty="0"/>
          </a:p>
        </p:txBody>
      </p:sp>
      <p:sp>
        <p:nvSpPr>
          <p:cNvPr id="8" name="card-329"/>
          <p:cNvSpPr/>
          <p:nvPr/>
        </p:nvSpPr>
        <p:spPr>
          <a:xfrm>
            <a:off x="3351276" y="15544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9" name="text-330"/>
          <p:cNvSpPr txBox="1"/>
          <p:nvPr/>
        </p:nvSpPr>
        <p:spPr>
          <a:xfrm>
            <a:off x="3552444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completeness</a:t>
            </a:r>
            <a:endParaRPr lang="en-US" sz="1300" dirty="0"/>
          </a:p>
        </p:txBody>
      </p:sp>
      <p:sp>
        <p:nvSpPr>
          <p:cNvPr id="10" name="text-331"/>
          <p:cNvSpPr txBox="1"/>
          <p:nvPr/>
        </p:nvSpPr>
        <p:spPr>
          <a:xfrm>
            <a:off x="3552444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2200" dirty="0"/>
          </a:p>
        </p:txBody>
      </p:sp>
      <p:sp>
        <p:nvSpPr>
          <p:cNvPr id="11" name="text-332"/>
          <p:cNvSpPr txBox="1"/>
          <p:nvPr/>
        </p:nvSpPr>
        <p:spPr>
          <a:xfrm>
            <a:off x="3552444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to plan to focus, in one run</a:t>
            </a:r>
            <a:endParaRPr lang="en-US" sz="1100" dirty="0"/>
          </a:p>
        </p:txBody>
      </p:sp>
      <p:sp>
        <p:nvSpPr>
          <p:cNvPr id="12" name="card-333"/>
          <p:cNvSpPr/>
          <p:nvPr/>
        </p:nvSpPr>
        <p:spPr>
          <a:xfrm>
            <a:off x="6153912" y="15544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13" name="text-334"/>
          <p:cNvSpPr txBox="1"/>
          <p:nvPr/>
        </p:nvSpPr>
        <p:spPr>
          <a:xfrm>
            <a:off x="6355080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evidence</a:t>
            </a:r>
            <a:endParaRPr lang="en-US" sz="1300" dirty="0"/>
          </a:p>
        </p:txBody>
      </p:sp>
      <p:sp>
        <p:nvSpPr>
          <p:cNvPr id="14" name="text-335"/>
          <p:cNvSpPr txBox="1"/>
          <p:nvPr/>
        </p:nvSpPr>
        <p:spPr>
          <a:xfrm>
            <a:off x="635508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2200" dirty="0"/>
          </a:p>
        </p:txBody>
      </p:sp>
      <p:sp>
        <p:nvSpPr>
          <p:cNvPr id="15" name="text-336"/>
          <p:cNvSpPr txBox="1"/>
          <p:nvPr/>
        </p:nvSpPr>
        <p:spPr>
          <a:xfrm>
            <a:off x="6355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 tests, browser run, profile</a:t>
            </a:r>
            <a:endParaRPr lang="en-US" sz="1100" dirty="0"/>
          </a:p>
        </p:txBody>
      </p:sp>
      <p:sp>
        <p:nvSpPr>
          <p:cNvPr id="16" name="card-337"/>
          <p:cNvSpPr/>
          <p:nvPr/>
        </p:nvSpPr>
        <p:spPr>
          <a:xfrm>
            <a:off x="8956548" y="15544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17" name="text-338"/>
          <p:cNvSpPr txBox="1"/>
          <p:nvPr/>
        </p:nvSpPr>
        <p:spPr>
          <a:xfrm>
            <a:off x="9157716" y="1700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8" name="text-339"/>
          <p:cNvSpPr txBox="1"/>
          <p:nvPr/>
        </p:nvSpPr>
        <p:spPr>
          <a:xfrm>
            <a:off x="9157716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Adequate</a:t>
            </a:r>
            <a:endParaRPr lang="en-US" sz="2200" dirty="0"/>
          </a:p>
        </p:txBody>
      </p:sp>
      <p:sp>
        <p:nvSpPr>
          <p:cNvPr id="19" name="text-340"/>
          <p:cNvSpPr txBox="1"/>
          <p:nvPr/>
        </p:nvSpPr>
        <p:spPr>
          <a:xfrm>
            <a:off x="9157716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Autosave; per-task risk gap</a:t>
            </a:r>
            <a:endParaRPr lang="en-US" sz="1100" dirty="0"/>
          </a:p>
        </p:txBody>
      </p:sp>
      <p:sp>
        <p:nvSpPr>
          <p:cNvPr id="20" name="card-341"/>
          <p:cNvSpPr/>
          <p:nvPr/>
        </p:nvSpPr>
        <p:spPr>
          <a:xfrm>
            <a:off x="548640" y="31546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21" name="text-342"/>
          <p:cNvSpPr txBox="1"/>
          <p:nvPr/>
        </p:nvSpPr>
        <p:spPr>
          <a:xfrm>
            <a:off x="749808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and clarity</a:t>
            </a:r>
            <a:endParaRPr lang="en-US" sz="1300" dirty="0"/>
          </a:p>
        </p:txBody>
      </p:sp>
      <p:sp>
        <p:nvSpPr>
          <p:cNvPr id="22" name="text-343"/>
          <p:cNvSpPr txBox="1"/>
          <p:nvPr/>
        </p:nvSpPr>
        <p:spPr>
          <a:xfrm>
            <a:off x="749808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Adequate</a:t>
            </a:r>
            <a:endParaRPr lang="en-US" sz="2200" dirty="0"/>
          </a:p>
        </p:txBody>
      </p:sp>
      <p:sp>
        <p:nvSpPr>
          <p:cNvPr id="23" name="text-344"/>
          <p:cNvSpPr txBox="1"/>
          <p:nvPr/>
        </p:nvSpPr>
        <p:spPr>
          <a:xfrm>
            <a:off x="749808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reasons; typed folder paths</a:t>
            </a:r>
            <a:endParaRPr lang="en-US" sz="1100" dirty="0"/>
          </a:p>
        </p:txBody>
      </p:sp>
      <p:sp>
        <p:nvSpPr>
          <p:cNvPr id="24" name="card-345"/>
          <p:cNvSpPr/>
          <p:nvPr/>
        </p:nvSpPr>
        <p:spPr>
          <a:xfrm>
            <a:off x="3351276" y="31546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25" name="text-346"/>
          <p:cNvSpPr txBox="1"/>
          <p:nvPr/>
        </p:nvSpPr>
        <p:spPr>
          <a:xfrm>
            <a:off x="3552444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usefulness</a:t>
            </a:r>
            <a:endParaRPr lang="en-US" sz="1300" dirty="0"/>
          </a:p>
        </p:txBody>
      </p:sp>
      <p:sp>
        <p:nvSpPr>
          <p:cNvPr id="26" name="text-347"/>
          <p:cNvSpPr txBox="1"/>
          <p:nvPr/>
        </p:nvSpPr>
        <p:spPr>
          <a:xfrm>
            <a:off x="3552444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Adequate</a:t>
            </a:r>
            <a:endParaRPr lang="en-US" sz="2200" dirty="0"/>
          </a:p>
        </p:txBody>
      </p:sp>
      <p:sp>
        <p:nvSpPr>
          <p:cNvPr id="27" name="text-348"/>
          <p:cNvSpPr txBox="1"/>
          <p:nvPr/>
        </p:nvSpPr>
        <p:spPr>
          <a:xfrm>
            <a:off x="3552444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computer; no calendar</a:t>
            </a:r>
            <a:endParaRPr lang="en-US" sz="1100" dirty="0"/>
          </a:p>
        </p:txBody>
      </p:sp>
      <p:sp>
        <p:nvSpPr>
          <p:cNvPr id="28" name="card-349"/>
          <p:cNvSpPr/>
          <p:nvPr/>
        </p:nvSpPr>
        <p:spPr>
          <a:xfrm>
            <a:off x="6153912" y="31546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29" name="text-350"/>
          <p:cNvSpPr txBox="1"/>
          <p:nvPr/>
        </p:nvSpPr>
        <p:spPr>
          <a:xfrm>
            <a:off x="6355080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0" name="text-351"/>
          <p:cNvSpPr txBox="1"/>
          <p:nvPr/>
        </p:nvSpPr>
        <p:spPr>
          <a:xfrm>
            <a:off x="635508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2200" dirty="0"/>
          </a:p>
        </p:txBody>
      </p:sp>
      <p:sp>
        <p:nvSpPr>
          <p:cNvPr id="31" name="text-352"/>
          <p:cNvSpPr txBox="1"/>
          <p:nvPr/>
        </p:nvSpPr>
        <p:spPr>
          <a:xfrm>
            <a:off x="63550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Combination, not single features</a:t>
            </a:r>
            <a:endParaRPr lang="en-US" sz="1100" dirty="0"/>
          </a:p>
        </p:txBody>
      </p:sp>
      <p:sp>
        <p:nvSpPr>
          <p:cNvPr id="32" name="card-353"/>
          <p:cNvSpPr/>
          <p:nvPr/>
        </p:nvSpPr>
        <p:spPr>
          <a:xfrm>
            <a:off x="8956548" y="315468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sp>
        <p:nvSpPr>
          <p:cNvPr id="33" name="text-354"/>
          <p:cNvSpPr txBox="1"/>
          <p:nvPr/>
        </p:nvSpPr>
        <p:spPr>
          <a:xfrm>
            <a:off x="9157716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for real users</a:t>
            </a:r>
            <a:endParaRPr lang="en-US" sz="1300" dirty="0"/>
          </a:p>
        </p:txBody>
      </p:sp>
      <p:sp>
        <p:nvSpPr>
          <p:cNvPr id="34" name="text-355"/>
          <p:cNvSpPr txBox="1"/>
          <p:nvPr/>
        </p:nvSpPr>
        <p:spPr>
          <a:xfrm>
            <a:off x="9157716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</a:t>
            </a:r>
            <a:endParaRPr lang="en-US" sz="2200" dirty="0"/>
          </a:p>
        </p:txBody>
      </p:sp>
      <p:sp>
        <p:nvSpPr>
          <p:cNvPr id="35" name="text-356"/>
          <p:cNvSpPr txBox="1"/>
          <p:nvPr/>
        </p:nvSpPr>
        <p:spPr>
          <a:xfrm>
            <a:off x="9157716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sign-in; untested with students</a:t>
            </a:r>
            <a:endParaRPr lang="en-US" sz="1100" dirty="0"/>
          </a:p>
        </p:txBody>
      </p:sp>
      <p:sp>
        <p:nvSpPr>
          <p:cNvPr id="36" name="card-357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</p:sp>
      <p:sp>
        <p:nvSpPr>
          <p:cNvPr id="37" name="text-358"/>
          <p:cNvSpPr txBox="1"/>
          <p:nvPr/>
        </p:nvSpPr>
        <p:spPr>
          <a:xfrm>
            <a:off x="822960" y="5047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38" name="text-359"/>
          <p:cNvSpPr txBox="1"/>
          <p:nvPr/>
        </p:nvSpPr>
        <p:spPr>
          <a:xfrm>
            <a:off x="822960" y="53766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combined workload risk and daily urgency, verify the build on the laptop, then run a two-week trial with students measuring deadlines met and time spent searching.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REFERENCES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-360"/>
          <p:cNvSpPr txBox="1"/>
          <p:nvPr/>
        </p:nvSpPr>
        <p:spPr>
          <a:xfrm>
            <a:off x="54864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300" dirty="0"/>
          </a:p>
        </p:txBody>
      </p:sp>
      <p:sp>
        <p:nvSpPr>
          <p:cNvPr id="5" name="text-361"/>
          <p:cNvSpPr txBox="1"/>
          <p:nvPr/>
        </p:nvSpPr>
        <p:spPr>
          <a:xfrm>
            <a:off x="1143000" y="1600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 Help Center. Introduction to priorities.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https://todoist.com/help/articles/205873321</a:t>
            </a:r>
            <a:endParaRPr lang="en-US" sz="1300" dirty="0"/>
          </a:p>
        </p:txBody>
      </p:sp>
      <p:sp>
        <p:nvSpPr>
          <p:cNvPr id="6" name="text-362"/>
          <p:cNvSpPr txBox="1"/>
          <p:nvPr/>
        </p:nvSpPr>
        <p:spPr>
          <a:xfrm>
            <a:off x="548640" y="2258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300" dirty="0"/>
          </a:p>
        </p:txBody>
      </p:sp>
      <p:sp>
        <p:nvSpPr>
          <p:cNvPr id="7" name="text-363"/>
          <p:cNvSpPr txBox="1"/>
          <p:nvPr/>
        </p:nvSpPr>
        <p:spPr>
          <a:xfrm>
            <a:off x="1143000" y="22585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MyStudyLife. The ultimate student productivity tool (home page).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https://mystudylife.com/</a:t>
            </a:r>
            <a:endParaRPr lang="en-US" sz="1300" dirty="0"/>
          </a:p>
        </p:txBody>
      </p:sp>
      <p:sp>
        <p:nvSpPr>
          <p:cNvPr id="8" name="text-364"/>
          <p:cNvSpPr txBox="1"/>
          <p:nvPr/>
        </p:nvSpPr>
        <p:spPr>
          <a:xfrm>
            <a:off x="548640" y="2916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300" dirty="0"/>
          </a:p>
        </p:txBody>
      </p:sp>
      <p:sp>
        <p:nvSpPr>
          <p:cNvPr id="9" name="text-365"/>
          <p:cNvSpPr txBox="1"/>
          <p:nvPr/>
        </p:nvSpPr>
        <p:spPr>
          <a:xfrm>
            <a:off x="1143000" y="291693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Help Center. What Auto-Scheduling considers.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https://www.usemotion.com/help/time-management/auto-scheduling/reference-auto-scheduling/what-auto-scheduling-considers</a:t>
            </a:r>
            <a:endParaRPr lang="en-US" sz="1300" dirty="0"/>
          </a:p>
        </p:txBody>
      </p:sp>
      <p:sp>
        <p:nvSpPr>
          <p:cNvPr id="10" name="text-366"/>
          <p:cNvSpPr txBox="1"/>
          <p:nvPr/>
        </p:nvSpPr>
        <p:spPr>
          <a:xfrm>
            <a:off x="548640" y="35753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300" dirty="0"/>
          </a:p>
        </p:txBody>
      </p:sp>
      <p:sp>
        <p:nvSpPr>
          <p:cNvPr id="11" name="text-367"/>
          <p:cNvSpPr txBox="1"/>
          <p:nvPr/>
        </p:nvSpPr>
        <p:spPr>
          <a:xfrm>
            <a:off x="1143000" y="35753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Obsidian. Home page. </a:t>
            </a:r>
            <a:pPr indent="0" marL="0">
              <a:buNone/>
            </a:pPr>
            <a:r>
              <a:rPr lang="en-US" sz="1300" u="sng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https://obsidian.md/</a:t>
            </a:r>
            <a:endParaRPr lang="en-US" sz="1300" dirty="0"/>
          </a:p>
        </p:txBody>
      </p:sp>
      <p:sp>
        <p:nvSpPr>
          <p:cNvPr id="12" name="text-368"/>
          <p:cNvSpPr txBox="1"/>
          <p:nvPr/>
        </p:nvSpPr>
        <p:spPr>
          <a:xfrm>
            <a:off x="548640" y="4233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300" dirty="0"/>
          </a:p>
        </p:txBody>
      </p:sp>
      <p:sp>
        <p:nvSpPr>
          <p:cNvPr id="13" name="text-369"/>
          <p:cNvSpPr txBox="1"/>
          <p:nvPr/>
        </p:nvSpPr>
        <p:spPr>
          <a:xfrm>
            <a:off x="1143000" y="42336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 project documentation: README.md and AUDIT.md (follow-up of 25 Oct 2026). </a:t>
            </a:r>
            <a:endParaRPr lang="en-US" sz="1300" dirty="0"/>
          </a:p>
        </p:txBody>
      </p:sp>
      <p:sp>
        <p:nvSpPr>
          <p:cNvPr id="14" name="text-370"/>
          <p:cNvSpPr txBox="1"/>
          <p:nvPr/>
        </p:nvSpPr>
        <p:spPr>
          <a:xfrm>
            <a:off x="548640" y="4892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300" dirty="0"/>
          </a:p>
        </p:txBody>
      </p:sp>
      <p:sp>
        <p:nvSpPr>
          <p:cNvPr id="15" name="text-371"/>
          <p:cNvSpPr txBox="1"/>
          <p:nvPr/>
        </p:nvSpPr>
        <p:spPr>
          <a:xfrm>
            <a:off x="114300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 test suite, browser walk-through (frontend/e2e/demo-flow.mjs) and profile script (backend/scripts/profile_kairos.py). </a:t>
            </a:r>
            <a:endParaRPr lang="en-US" sz="1300" dirty="0"/>
          </a:p>
        </p:txBody>
      </p:sp>
      <p:sp>
        <p:nvSpPr>
          <p:cNvPr id="16" name="text-372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pages accessed 25 October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IROS Final Review">
  <a:themeElements>
    <a:clrScheme name="KAIROS Final Review">
      <a:dk1>
        <a:srgbClr val="1A1B22"/>
      </a:dk1>
      <a:lt1>
        <a:srgbClr val="FFFFFF"/>
      </a:lt1>
      <a:dk2>
        <a:srgbClr val="12131A"/>
      </a:dk2>
      <a:lt2>
        <a:srgbClr val="F4F3F8"/>
      </a:lt2>
      <a:accent1>
        <a:srgbClr val="6C5CE7"/>
      </a:accent1>
      <a:accent2>
        <a:srgbClr val="00D2A0"/>
      </a:accent2>
      <a:accent3>
        <a:srgbClr val="FF7A59"/>
      </a:accent3>
      <a:accent4>
        <a:srgbClr val="3A3C46"/>
      </a:accent4>
      <a:accent5>
        <a:srgbClr val="8A8D9A"/>
      </a:accent5>
      <a:accent6>
        <a:srgbClr val="1D1E29"/>
      </a:accent6>
      <a:hlink>
        <a:srgbClr val="6C5CE7"/>
      </a:hlink>
      <a:folHlink>
        <a:srgbClr val="5A5C68"/>
      </a:folHlink>
    </a:clrScheme>
    <a:fontScheme name="KAIROS Final Review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— Final Project Review</dc:title>
  <dc:subject>PptxGenJS Presentation</dc:subject>
  <dc:creator>KAIROS project team</dc:creator>
  <cp:lastModifiedBy>KAIROS project team</cp:lastModifiedBy>
  <cp:revision>1</cp:revision>
  <dcterms:created xsi:type="dcterms:W3CDTF">2026-10-24T22:40:39Z</dcterms:created>
  <dcterms:modified xsi:type="dcterms:W3CDTF">2026-10-24T22:40:39Z</dcterms:modified>
</cp:coreProperties>
</file>